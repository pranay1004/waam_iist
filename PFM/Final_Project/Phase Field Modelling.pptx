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4" r:id="rId3"/>
    <p:sldId id="271" r:id="rId4"/>
    <p:sldId id="259" r:id="rId5"/>
    <p:sldId id="275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85" r:id="rId16"/>
    <p:sldId id="294" r:id="rId17"/>
    <p:sldId id="287" r:id="rId18"/>
    <p:sldId id="28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D457ED-613D-40A0-8A78-5F08EC417802}" type="datetimeFigureOut">
              <a:rPr lang="en-IN" smtClean="0"/>
              <a:t>23-02-2023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91EF07-6960-4BC2-B3E3-2BD9444A51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072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4333D-7E3F-E5E4-C466-725DB908E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97BC1D-91FA-2792-442A-C09D5FC29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C8B0E-69C6-C7C5-E46F-CE158743B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5D56-39F8-4DDA-B959-5594DD391B9A}" type="datetimeFigureOut">
              <a:rPr lang="en-IN" smtClean="0"/>
              <a:t>23-02-2023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75E6E-0CB3-ACF3-3108-9371EE193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4A4D-2AB0-F666-65FC-18C4A42B3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1F27-5FA6-4175-BF50-E808C75B8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592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5D90E-83C0-9CEE-7C3B-6467280FE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083D7-C8D3-7451-FFC3-37BC66E91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5E6D4-DBD8-60C1-9019-B5C692F9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5D56-39F8-4DDA-B959-5594DD391B9A}" type="datetimeFigureOut">
              <a:rPr lang="en-IN" smtClean="0"/>
              <a:t>23-02-2023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B2C68-8295-17DF-BAAC-619259A90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7B769-8BBA-5EFB-4486-FE7DD30FD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1F27-5FA6-4175-BF50-E808C75B8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10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D3111-0B92-3E83-6F99-2699BAFF2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22A40-CC45-D929-CE89-E2212A409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7B51-B0FB-0A31-4FB0-D6C1C5598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5D56-39F8-4DDA-B959-5594DD391B9A}" type="datetimeFigureOut">
              <a:rPr lang="en-IN" smtClean="0"/>
              <a:t>23-02-2023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E970A-510E-6E20-32E2-39B66BB92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CE0C6-8C73-0513-24F1-BC0C9ADF0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1F27-5FA6-4175-BF50-E808C75B8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764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A9F64-BB32-D3BC-4E73-F12E980D1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0A0F7-1D54-E086-E3D2-EA0502879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FD1EB-EE75-D23A-ECC2-93F3F8115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9E211-603D-1862-D951-921CA7089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5D56-39F8-4DDA-B959-5594DD391B9A}" type="datetimeFigureOut">
              <a:rPr lang="en-IN" smtClean="0"/>
              <a:t>23-02-2023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E2E0D-E746-458A-E5C7-EA5246427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68096-E03F-7B13-8FF7-A48B767E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1F27-5FA6-4175-BF50-E808C75B8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777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986A-3DCA-38E3-868A-AFF2A3896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758E7-08D4-0F99-C438-DA0C0AA08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04971-C7BC-6D53-DCEB-FBBAFE4EA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3BA08E-036C-40F5-981E-26D15F1DC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6745E4-60D1-F594-F90A-3A26E688D1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1A8DC-E643-B12D-44EC-E9C655C4B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5D56-39F8-4DDA-B959-5594DD391B9A}" type="datetimeFigureOut">
              <a:rPr lang="en-IN" smtClean="0"/>
              <a:t>23-02-2023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258CD6-CFE5-95C8-AE8E-A1A422DD8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406642-00E7-B7EB-F0A7-4D8192782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1F27-5FA6-4175-BF50-E808C75B8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87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D0AB2-1800-4B3D-5861-1910FD737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2D333B-ECA9-AE5D-A356-B89A8F1EF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5D56-39F8-4DDA-B959-5594DD391B9A}" type="datetimeFigureOut">
              <a:rPr lang="en-IN" smtClean="0"/>
              <a:t>23-02-2023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E0BCF1-1854-A94B-FF91-E9F2DCC98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123DB7-C528-E85F-FC98-CC2F6B6E7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1F27-5FA6-4175-BF50-E808C75B8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13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8FCB90-DBB5-37D2-CB13-385103D5A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5D56-39F8-4DDA-B959-5594DD391B9A}" type="datetimeFigureOut">
              <a:rPr lang="en-IN" smtClean="0"/>
              <a:t>23-02-2023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800CCA-AE85-ADD9-966B-529CFD3F3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19EF3-E72F-3D77-555F-06281879E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1F27-5FA6-4175-BF50-E808C75B8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277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0CDD3-C9DD-92E6-47F2-505BDA57F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421FE-094D-DE9E-AB52-022455FA8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88CDC-FC80-4771-10F6-B4C0707A7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625EE-C1CA-7845-ED81-475CC9F81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5D56-39F8-4DDA-B959-5594DD391B9A}" type="datetimeFigureOut">
              <a:rPr lang="en-IN" smtClean="0"/>
              <a:t>23-02-2023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CD008-3D32-CE3B-254A-19FE1A616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582D0-01C2-E4F0-50E8-A4114846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1F27-5FA6-4175-BF50-E808C75B8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834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C8B9-5B21-D911-5FA3-17B085813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F1BEA7-B6EB-23D6-C799-1ABA25D126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A0D721-464E-F0B7-1AC6-ECD5694C7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E3D4F-E63B-A058-4B56-141809936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5D56-39F8-4DDA-B959-5594DD391B9A}" type="datetimeFigureOut">
              <a:rPr lang="en-IN" smtClean="0"/>
              <a:t>23-02-2023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EC7BB-2933-CAD5-5F37-5F065ADC9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2B3F2-5A01-B7B0-56DF-6B10FEC31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1F27-5FA6-4175-BF50-E808C75B8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198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4B070-E9F3-BBB6-3DC5-BDA738BAB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75F7E4-87D4-0C3B-68BE-60EF33152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0F1AF-3B0E-82E4-631B-A69956A2C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5D56-39F8-4DDA-B959-5594DD391B9A}" type="datetimeFigureOut">
              <a:rPr lang="en-IN" smtClean="0"/>
              <a:t>23-02-2023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3E611-D904-A4FF-AB6F-931CFDBEF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8E755-6A3E-D3FE-5571-EDF8D774A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1F27-5FA6-4175-BF50-E808C75B8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041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8869C8-8B33-B990-9663-3A0AEB7FAC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C27D2-455A-A4E4-4E91-75D78D337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92FD8-B530-6BF7-E67A-15749F502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5D56-39F8-4DDA-B959-5594DD391B9A}" type="datetimeFigureOut">
              <a:rPr lang="en-IN" smtClean="0"/>
              <a:t>23-02-2023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B2070-F03C-C2DA-2C42-2684A87B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722DB-2EE6-FCD9-A893-D1D6C72BA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1F27-5FA6-4175-BF50-E808C75B8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883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7E7560-77A6-E5AF-D679-B59F24ED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CAC8A-181F-C694-958F-7017B25B1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E2399-7F69-AC3A-01AC-A33905E72F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15D56-39F8-4DDA-B959-5594DD391B9A}" type="datetimeFigureOut">
              <a:rPr lang="en-IN" smtClean="0"/>
              <a:t>23-02-2023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BC340-2721-BBDB-4EF6-DA96AA9F9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086B2-A408-27B0-C46F-4BDBE02E9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E1F27-5FA6-4175-BF50-E808C75B8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781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FE29-EEC7-19B7-8C5B-B81066934B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Phase Field Modelling </a:t>
            </a:r>
            <a:br>
              <a:rPr lang="en-US"/>
            </a:br>
            <a:r>
              <a:rPr lang="en-US"/>
              <a:t>of </a:t>
            </a:r>
            <a:r>
              <a:rPr lang="en-US" dirty="0"/>
              <a:t>Solidification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E385B3-20EC-399E-8116-9ECD968332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7879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1806-4286-037B-84CA-420E47E4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Field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95A2A-3EF2-7468-F1D1-983D3BBBA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E2E2E"/>
                </a:solidFill>
                <a:effectLst/>
                <a:latin typeface="NexusSans"/>
              </a:rPr>
              <a:t>Phase-field modelling is an efficient solution method for modelling phase transformations.</a:t>
            </a:r>
          </a:p>
          <a:p>
            <a:r>
              <a:rPr lang="en-US" dirty="0"/>
              <a:t>It has applications in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Single-crystal solidification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Directional and polycrystalline solidification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Grain growth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Precipitation</a:t>
            </a:r>
            <a:endParaRPr lang="en-US" b="0" i="0" dirty="0">
              <a:solidFill>
                <a:srgbClr val="2E2E2E"/>
              </a:solidFill>
              <a:effectLst/>
              <a:latin typeface="NexusSans"/>
            </a:endParaRPr>
          </a:p>
          <a:p>
            <a:r>
              <a:rPr lang="en-US" b="0" i="0" dirty="0">
                <a:solidFill>
                  <a:srgbClr val="2E2E2E"/>
                </a:solidFill>
                <a:effectLst/>
                <a:latin typeface="NexusSans"/>
              </a:rPr>
              <a:t>Along with that models have now evolved for treating problems on electrochemical reactions, mechanical deformation and fracture processes.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860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7910C-D9A9-E61E-F8DD-28586454A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Field Modelling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12A3E-63A2-93DE-E234-AFB03E8EE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8160"/>
            <a:ext cx="10515600" cy="435133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88BE762-D90B-34BC-D879-D76F50CDFDB2}"/>
              </a:ext>
            </a:extLst>
          </p:cNvPr>
          <p:cNvSpPr/>
          <p:nvPr/>
        </p:nvSpPr>
        <p:spPr>
          <a:xfrm>
            <a:off x="4916556" y="2138160"/>
            <a:ext cx="1934818" cy="115293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Phase Field Modelling</a:t>
            </a:r>
            <a:endParaRPr lang="en-IN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4F7FD4F-4146-076A-D0BC-5FE2083A41C8}"/>
              </a:ext>
            </a:extLst>
          </p:cNvPr>
          <p:cNvCxnSpPr>
            <a:stCxn id="4" idx="3"/>
          </p:cNvCxnSpPr>
          <p:nvPr/>
        </p:nvCxnSpPr>
        <p:spPr>
          <a:xfrm flipH="1">
            <a:off x="3684104" y="3122255"/>
            <a:ext cx="1515800" cy="791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03E30A2-D36E-9798-E090-92A15BE1A6BC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5883965" y="3291099"/>
            <a:ext cx="0" cy="1285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F60C541-86E6-FA3D-09BD-00B31650A3A5}"/>
              </a:ext>
            </a:extLst>
          </p:cNvPr>
          <p:cNvCxnSpPr>
            <a:stCxn id="4" idx="5"/>
          </p:cNvCxnSpPr>
          <p:nvPr/>
        </p:nvCxnSpPr>
        <p:spPr>
          <a:xfrm>
            <a:off x="6568026" y="3122255"/>
            <a:ext cx="1423035" cy="1056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AB4A2ED-45AF-7C74-7AB7-60DA150256E9}"/>
              </a:ext>
            </a:extLst>
          </p:cNvPr>
          <p:cNvSpPr/>
          <p:nvPr/>
        </p:nvSpPr>
        <p:spPr>
          <a:xfrm>
            <a:off x="2307782" y="3812129"/>
            <a:ext cx="1736032" cy="14427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Material Science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F13F09-38B4-B1C0-00EC-77199F522333}"/>
              </a:ext>
            </a:extLst>
          </p:cNvPr>
          <p:cNvSpPr/>
          <p:nvPr/>
        </p:nvSpPr>
        <p:spPr>
          <a:xfrm>
            <a:off x="4808013" y="4598505"/>
            <a:ext cx="2043361" cy="105674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Mathematics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D2AFEB2-0ABA-FEC3-DD6F-0165B15BECBF}"/>
              </a:ext>
            </a:extLst>
          </p:cNvPr>
          <p:cNvSpPr/>
          <p:nvPr/>
        </p:nvSpPr>
        <p:spPr>
          <a:xfrm>
            <a:off x="7315823" y="4178995"/>
            <a:ext cx="2043360" cy="128546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Numerical Computation</a:t>
            </a:r>
          </a:p>
        </p:txBody>
      </p:sp>
    </p:spTree>
    <p:extLst>
      <p:ext uri="{BB962C8B-B14F-4D97-AF65-F5344CB8AC3E}">
        <p14:creationId xmlns:p14="http://schemas.microsoft.com/office/powerpoint/2010/main" val="1561828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99EC5-A633-5D0C-8C14-E375E6ECD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Field Modelling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9B299F-4201-B92B-CF64-87E0C822A4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076" y="2124454"/>
            <a:ext cx="4802112" cy="1705423"/>
          </a:xfrm>
          <a:ln w="28575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834C7D-1D5B-9EAD-CBAC-C6D607F38FD0}"/>
              </a:ext>
            </a:extLst>
          </p:cNvPr>
          <p:cNvSpPr txBox="1"/>
          <p:nvPr/>
        </p:nvSpPr>
        <p:spPr>
          <a:xfrm>
            <a:off x="457200" y="4134678"/>
            <a:ext cx="509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Sharp-interface model / Stefan Problem</a:t>
            </a:r>
            <a:endParaRPr lang="en-IN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535DFF-0140-3FB4-78A9-82BEE6BC0B74}"/>
              </a:ext>
            </a:extLst>
          </p:cNvPr>
          <p:cNvSpPr txBox="1"/>
          <p:nvPr/>
        </p:nvSpPr>
        <p:spPr>
          <a:xfrm>
            <a:off x="5698435" y="212445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classical sharp interface model for isothermal solidification of an alloy is described by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Solute diffusion in each of the bulk phases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Two boundary conditions at the solid-liquid interface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flux conservation condition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Gibbs-Thomson condition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997356-AAC7-E85B-9135-10965A69FA6B}"/>
              </a:ext>
            </a:extLst>
          </p:cNvPr>
          <p:cNvSpPr txBox="1"/>
          <p:nvPr/>
        </p:nvSpPr>
        <p:spPr>
          <a:xfrm>
            <a:off x="559076" y="4929809"/>
            <a:ext cx="82006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Differential equations are difficult to solve.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numerical simulation of Stefan Problem is difficult.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Phase field method overcomes these difficulties by describing microstructure with set of field variables.</a:t>
            </a:r>
          </a:p>
        </p:txBody>
      </p:sp>
    </p:spTree>
    <p:extLst>
      <p:ext uri="{BB962C8B-B14F-4D97-AF65-F5344CB8AC3E}">
        <p14:creationId xmlns:p14="http://schemas.microsoft.com/office/powerpoint/2010/main" val="3679370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BFBC-4E3B-89D0-F343-03863F97B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Field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497A8-8155-0E1B-3A6D-633F7BBFA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85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B3CEF-9C41-F75C-1772-D91483620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Field Variable (</a:t>
            </a:r>
            <a:r>
              <a:rPr lang="en-IN" dirty="0">
                <a:latin typeface="GreekC" panose="00000400000000000000" pitchFamily="2" charset="0"/>
                <a:cs typeface="GreekC" panose="00000400000000000000" pitchFamily="2" charset="0"/>
              </a:rPr>
              <a:t>f</a:t>
            </a:r>
            <a:r>
              <a:rPr lang="en-IN" dirty="0">
                <a:cs typeface="GreekC" panose="00000400000000000000" pitchFamily="2" charset="0"/>
              </a:rPr>
              <a:t>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06E312-DA2C-5CF7-13D7-54DEE5F78AFA}"/>
              </a:ext>
            </a:extLst>
          </p:cNvPr>
          <p:cNvSpPr txBox="1"/>
          <p:nvPr/>
        </p:nvSpPr>
        <p:spPr>
          <a:xfrm>
            <a:off x="838200" y="1690688"/>
            <a:ext cx="6013174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Phase Field Variable is a function of space and Time. f(</a:t>
            </a:r>
            <a:r>
              <a:rPr lang="en-IN" sz="2400" dirty="0" err="1"/>
              <a:t>x,t</a:t>
            </a:r>
            <a:r>
              <a:rPr lang="en-IN" sz="24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GreekC" panose="00000400000000000000" pitchFamily="2" charset="0"/>
                <a:cs typeface="GreekC" panose="00000400000000000000" pitchFamily="2" charset="0"/>
              </a:rPr>
              <a:t>f</a:t>
            </a:r>
            <a:r>
              <a:rPr lang="en-IN" sz="2400" dirty="0"/>
              <a:t> takes value 0 in liquid and 1 in solid phase.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This</a:t>
            </a:r>
            <a:r>
              <a:rPr lang="en-IN" sz="2400" dirty="0">
                <a:latin typeface="GreekC" panose="00000400000000000000" pitchFamily="2" charset="0"/>
                <a:cs typeface="GreekC" panose="00000400000000000000" pitchFamily="2" charset="0"/>
              </a:rPr>
              <a:t> f </a:t>
            </a:r>
            <a:r>
              <a:rPr lang="en-IN" sz="2400" dirty="0">
                <a:cs typeface="GreekC" panose="00000400000000000000" pitchFamily="2" charset="0"/>
              </a:rPr>
              <a:t>creates</a:t>
            </a:r>
            <a:r>
              <a:rPr lang="en-US" sz="2400" dirty="0"/>
              <a:t> a continuous field over entire spatial domain of the system.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Main benefit is the interface is not explicitly tracked at every time step in the simulation.</a:t>
            </a:r>
            <a:endParaRPr lang="en-IN" sz="2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83413B4-F402-3DE0-A0CA-E37AC740B1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30133" y="809383"/>
            <a:ext cx="3333750" cy="3362325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F3FF36-8884-98E1-D39A-AE4C2310E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879" y="895350"/>
            <a:ext cx="771525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8776B-0CDC-A417-5588-28D08AB3F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Field Models For Solidification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D6B3D-BD7F-8527-C775-B8F0F7AF6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Single Component System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Kobayashi Model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dirty="0"/>
              <a:t>Binary Alloys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WBM Model by Wheeler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KKS Model by Kim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Warren and </a:t>
            </a:r>
            <a:r>
              <a:rPr lang="en-IN" dirty="0" err="1"/>
              <a:t>Boettinger</a:t>
            </a:r>
            <a:endParaRPr lang="en-IN" dirty="0"/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975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D299E-7260-881D-07DC-A314D45FF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Kobayashi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397A84-97A7-7340-3936-9CE081982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78" y="2464283"/>
            <a:ext cx="4199356" cy="96471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C71455-2F0E-ED2F-5959-87D8C20E624C}"/>
              </a:ext>
            </a:extLst>
          </p:cNvPr>
          <p:cNvSpPr txBox="1"/>
          <p:nvPr/>
        </p:nvSpPr>
        <p:spPr>
          <a:xfrm>
            <a:off x="705677" y="1772009"/>
            <a:ext cx="5946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Ginzburg– Landau type free energy functional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5EC448-8AF1-44CC-2B38-2036AA4CC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775" y="2332664"/>
            <a:ext cx="4391025" cy="8096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341E09-E39E-0558-6514-B645E0C04610}"/>
              </a:ext>
            </a:extLst>
          </p:cNvPr>
          <p:cNvSpPr txBox="1"/>
          <p:nvPr/>
        </p:nvSpPr>
        <p:spPr>
          <a:xfrm>
            <a:off x="838200" y="3988904"/>
            <a:ext cx="940573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ε is the anisotropic gradient energy coefficient which determines the thickness of the interface layer.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second term is the local free energy which is a double-well potential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m is the driving force for the interface motion proportional to supercooling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82D398-4819-3376-BC39-A2A0D6FB1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775" y="3445918"/>
            <a:ext cx="3419475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206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ADDA9-14F7-C7CE-BDA7-73E01B847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Kobayashi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FA7FD9-184C-59AC-C130-49ABCDC90E2C}"/>
              </a:ext>
            </a:extLst>
          </p:cNvPr>
          <p:cNvSpPr txBox="1"/>
          <p:nvPr/>
        </p:nvSpPr>
        <p:spPr>
          <a:xfrm>
            <a:off x="838200" y="1690688"/>
            <a:ext cx="5960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Allen Cahn equation is given as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D1875F-ECD2-4996-9FA8-A8147F979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18" y="2325549"/>
            <a:ext cx="1743075" cy="828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D1E214-2B65-D531-B1AD-E22EB90ED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35" y="3369160"/>
            <a:ext cx="7696200" cy="8001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FE0B15-A5A0-F8A9-D7F3-34E5DBED3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018" y="5707101"/>
            <a:ext cx="2162175" cy="7239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105911-F7F2-EED6-DEAB-98EFAF30FDC2}"/>
              </a:ext>
            </a:extLst>
          </p:cNvPr>
          <p:cNvSpPr txBox="1"/>
          <p:nvPr/>
        </p:nvSpPr>
        <p:spPr>
          <a:xfrm>
            <a:off x="997018" y="4518991"/>
            <a:ext cx="5986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evolution of temperature field, is derived from the conservation law of enthalpy as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87EC4F-F168-B8D9-20FF-323A6A3BCC10}"/>
              </a:ext>
            </a:extLst>
          </p:cNvPr>
          <p:cNvSpPr txBox="1"/>
          <p:nvPr/>
        </p:nvSpPr>
        <p:spPr>
          <a:xfrm>
            <a:off x="3818282" y="5699719"/>
            <a:ext cx="4784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</a:t>
            </a:r>
            <a:r>
              <a:rPr lang="en-US" dirty="0"/>
              <a:t> is a dimensionless latent heat which is proportional to the latent heat and inversely proportional to the strength of the cooling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7313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671AA-5F32-482A-33AE-1D2112D52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Alloys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3B8EFA-C911-AF25-AFB7-32B3EEB34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34" y="2918316"/>
            <a:ext cx="6489163" cy="101047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B23F57-697D-A9B0-2A83-D2CAF1D03421}"/>
              </a:ext>
            </a:extLst>
          </p:cNvPr>
          <p:cNvSpPr txBox="1"/>
          <p:nvPr/>
        </p:nvSpPr>
        <p:spPr>
          <a:xfrm>
            <a:off x="393895" y="1519311"/>
            <a:ext cx="69916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Alloy solidification involves both heat and mass transfer. Mass transfer is considered slower than Heat transfer.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FCB497-8DD2-C9A8-0A90-EE3D6376B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95" y="4014351"/>
            <a:ext cx="5718251" cy="17999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31AF18-84A6-666E-56BF-C018C08C1CB5}"/>
              </a:ext>
            </a:extLst>
          </p:cNvPr>
          <p:cNvSpPr txBox="1"/>
          <p:nvPr/>
        </p:nvSpPr>
        <p:spPr>
          <a:xfrm>
            <a:off x="7385538" y="1690688"/>
            <a:ext cx="40936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Lewis Number (D</a:t>
            </a:r>
            <a:r>
              <a:rPr lang="en-IN" sz="2400" baseline="-25000" dirty="0"/>
              <a:t>T</a:t>
            </a:r>
            <a:r>
              <a:rPr lang="en-IN" sz="2400" dirty="0"/>
              <a:t>/D) is assumed in the range of 100 to 10</a:t>
            </a:r>
            <a:r>
              <a:rPr lang="en-IN" sz="2400" baseline="300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65776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3AA7F-314A-28B2-C410-17EAE2EDA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Alloy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0BA5D7-9484-8483-1BE3-AA97D8784519}"/>
              </a:ext>
            </a:extLst>
          </p:cNvPr>
          <p:cNvSpPr txBox="1"/>
          <p:nvPr/>
        </p:nvSpPr>
        <p:spPr>
          <a:xfrm>
            <a:off x="838200" y="1690688"/>
            <a:ext cx="6689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Free Energy Density Function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CA883C-C09C-F0E7-C452-66814C5A4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195" y="1670822"/>
            <a:ext cx="1164535" cy="5013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C6E976-96AD-457E-1F99-4FC1D3B69E05}"/>
              </a:ext>
            </a:extLst>
          </p:cNvPr>
          <p:cNvSpPr txBox="1"/>
          <p:nvPr/>
        </p:nvSpPr>
        <p:spPr>
          <a:xfrm>
            <a:off x="789620" y="3477916"/>
            <a:ext cx="6397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 from the free energies of the pure elements 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2B1C22-6218-AB77-A3C6-7AF2B1CCA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36695"/>
            <a:ext cx="5932546" cy="57955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4BD782-0D71-3A38-273B-5C7DFB79F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040" y="4113650"/>
            <a:ext cx="5799727" cy="5169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068D57-4386-494B-4952-4545309CB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05" y="4308913"/>
            <a:ext cx="2869107" cy="5961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F249BA-7A59-0E01-5F00-721977DB2A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106" y="3727459"/>
            <a:ext cx="3072053" cy="51693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6D78A4D-7D8F-F66E-6D7A-875BE5B4C2C1}"/>
              </a:ext>
            </a:extLst>
          </p:cNvPr>
          <p:cNvSpPr txBox="1"/>
          <p:nvPr/>
        </p:nvSpPr>
        <p:spPr>
          <a:xfrm>
            <a:off x="838200" y="5208104"/>
            <a:ext cx="5799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CALPHAD Method</a:t>
            </a:r>
          </a:p>
        </p:txBody>
      </p:sp>
    </p:spTree>
    <p:extLst>
      <p:ext uri="{BB962C8B-B14F-4D97-AF65-F5344CB8AC3E}">
        <p14:creationId xmlns:p14="http://schemas.microsoft.com/office/powerpoint/2010/main" val="3073943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1B36A-A62B-2541-375B-7929936A8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 J.A. Warren and W.J. </a:t>
            </a:r>
            <a:r>
              <a:rPr lang="en-IN" dirty="0" err="1"/>
              <a:t>Boettinger</a:t>
            </a:r>
            <a:r>
              <a:rPr lang="en-IN" dirty="0"/>
              <a:t>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371759-2930-A033-57CC-AA46BAFBA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18" y="1864558"/>
            <a:ext cx="5321519" cy="9771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483063-7D3A-A86B-E60F-D8D8C6F00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52" y="3148012"/>
            <a:ext cx="5073605" cy="82237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9F55B9E-7C9A-7DD4-506F-5E615F6F1A1F}"/>
              </a:ext>
            </a:extLst>
          </p:cNvPr>
          <p:cNvSpPr/>
          <p:nvPr/>
        </p:nvSpPr>
        <p:spPr>
          <a:xfrm>
            <a:off x="641252" y="1690688"/>
            <a:ext cx="5454748" cy="2523503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DD7DBE-AB4E-986E-888B-28CD38755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37" y="4520529"/>
            <a:ext cx="5434184" cy="120441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857177-4A27-4725-645B-6E4C9CF36A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6208" y="2038790"/>
            <a:ext cx="3605239" cy="66465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4FE6F2E-EF46-1B82-EF55-07103F8477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6208" y="3219404"/>
            <a:ext cx="3606682" cy="43819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D302A8-9AE3-A6B2-5B6E-37B229EC0B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5777" y="4243340"/>
            <a:ext cx="3345670" cy="20445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804374-69DE-8136-F40F-B92ED9BF16EA}"/>
              </a:ext>
            </a:extLst>
          </p:cNvPr>
          <p:cNvSpPr txBox="1"/>
          <p:nvPr/>
        </p:nvSpPr>
        <p:spPr>
          <a:xfrm>
            <a:off x="641252" y="61032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 : height of the double well potential </a:t>
            </a:r>
            <a:r>
              <a:rPr lang="en-US" dirty="0" err="1"/>
              <a:t>gw</a:t>
            </a:r>
            <a:r>
              <a:rPr lang="en-US" dirty="0"/>
              <a:t>(φ)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3959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1B36A-A62B-2541-375B-7929936A8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 J.A. Warren and W.J. </a:t>
            </a:r>
            <a:r>
              <a:rPr lang="en-IN" dirty="0" err="1"/>
              <a:t>Boettinger</a:t>
            </a:r>
            <a:r>
              <a:rPr lang="en-IN" dirty="0"/>
              <a:t> Model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857177-4A27-4725-645B-6E4C9CF36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21" y="2302360"/>
            <a:ext cx="3605239" cy="66465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4FE6F2E-EF46-1B82-EF55-07103F847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321" y="3452793"/>
            <a:ext cx="3606682" cy="43819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D302A8-9AE3-A6B2-5B6E-37B229EC0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573" y="1944725"/>
            <a:ext cx="4906368" cy="299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53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EFF37-B775-07C1-C0A3-1B4E38C5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2922"/>
            <a:ext cx="10515600" cy="1325563"/>
          </a:xfrm>
        </p:spPr>
        <p:txBody>
          <a:bodyPr/>
          <a:lstStyle/>
          <a:p>
            <a:r>
              <a:rPr lang="en-IN" dirty="0"/>
              <a:t>Anisotropy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8C21E6-208B-69E9-255A-E168FFFF511C}"/>
              </a:ext>
            </a:extLst>
          </p:cNvPr>
          <p:cNvSpPr txBox="1"/>
          <p:nvPr/>
        </p:nvSpPr>
        <p:spPr>
          <a:xfrm>
            <a:off x="838200" y="1648485"/>
            <a:ext cx="42965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interfacial anisotropy is introduced by assuming that ε depends on the direction of the outer normal vector at the interface.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4EBD39-1DFB-30DC-90DA-DCAA3630E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74047"/>
            <a:ext cx="2369234" cy="11384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E74362-8A1D-06D8-8112-1DA3CC04C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12" y="4489581"/>
            <a:ext cx="4646847" cy="7199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5C7F6F-BFE0-D2DA-C301-C096B1B3A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012" y="5358690"/>
            <a:ext cx="2724150" cy="7524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103CA5-1CE0-D8BC-757E-40DCD6272B77}"/>
              </a:ext>
            </a:extLst>
          </p:cNvPr>
          <p:cNvSpPr txBox="1"/>
          <p:nvPr/>
        </p:nvSpPr>
        <p:spPr>
          <a:xfrm>
            <a:off x="1007012" y="6165746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. θ</a:t>
            </a:r>
            <a:r>
              <a:rPr lang="en-US" baseline="-25000" dirty="0"/>
              <a:t>0</a:t>
            </a:r>
            <a:r>
              <a:rPr lang="en-US" dirty="0"/>
              <a:t> is the initial offset angle and taken as a constant</a:t>
            </a:r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AEEE45-0EE4-5F0B-41D7-D7E7366315A3}"/>
              </a:ext>
            </a:extLst>
          </p:cNvPr>
          <p:cNvCxnSpPr/>
          <p:nvPr/>
        </p:nvCxnSpPr>
        <p:spPr>
          <a:xfrm>
            <a:off x="6400800" y="1786597"/>
            <a:ext cx="0" cy="45638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AE915B4-65EC-9D0E-BDCC-D9E319D50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6737" y="2679381"/>
            <a:ext cx="5247852" cy="86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258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E4058-DA5F-9005-4EC5-BF5201D7E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Formulation (Pure Melt)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7A757-3D9D-73AA-DB9C-07939060C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work of Kim(1999)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9F0BF6-273A-1EAF-31F5-3323970F7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05" y="2760841"/>
            <a:ext cx="4792155" cy="105839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5CE0E5-1952-ED85-6BFD-AE0B13153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51" y="4026116"/>
            <a:ext cx="6763702" cy="194396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33EB90-048E-7A7A-94E3-5873D084155D}"/>
              </a:ext>
            </a:extLst>
          </p:cNvPr>
          <p:cNvSpPr txBox="1"/>
          <p:nvPr/>
        </p:nvSpPr>
        <p:spPr>
          <a:xfrm>
            <a:off x="7606748" y="251791"/>
            <a:ext cx="4422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A4426A-E898-0373-4481-2F1813A6595A}"/>
              </a:ext>
            </a:extLst>
          </p:cNvPr>
          <p:cNvSpPr txBox="1"/>
          <p:nvPr/>
        </p:nvSpPr>
        <p:spPr>
          <a:xfrm>
            <a:off x="7495884" y="2135775"/>
            <a:ext cx="44223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First term is a diffusivity term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Second and third terms represent the anisotropy.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Third term determines the distribution of the excess free-energy at the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last product on the righthand side represents the driving force behind the solidification process.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98926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1A090-D91F-0E9C-7319-1C7240A1A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Formulation (Pure Melt)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845317-9D52-6C2C-E010-E5D2E5059B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Model parameters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are obtained using known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845317-9D52-6C2C-E010-E5D2E5059B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6EB4D517-921B-0D07-1F26-848EC4407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234" y="2879772"/>
            <a:ext cx="2772652" cy="22430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54B2E06-2E77-6825-BF23-9991C6442E1D}"/>
                  </a:ext>
                </a:extLst>
              </p:cNvPr>
              <p:cNvSpPr txBox="1"/>
              <p:nvPr/>
            </p:nvSpPr>
            <p:spPr>
              <a:xfrm>
                <a:off x="5762303" y="2879772"/>
                <a:ext cx="6096000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sty m:val="p"/>
                      </m:rPr>
                      <a:rPr lang="en-IN" sz="2800" b="0" i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IN" sz="2800" dirty="0"/>
                  <a:t>nterface kinetic coefficient </a:t>
                </a:r>
              </a:p>
              <a:p>
                <a:r>
                  <a:rPr lang="en-IN" sz="2800" dirty="0"/>
                  <a:t>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IN" sz="2800" baseline="-25000" dirty="0"/>
                  <a:t>0   </a:t>
                </a:r>
                <a:r>
                  <a:rPr lang="en-IN" sz="2800" dirty="0"/>
                  <a:t>Interface energy </a:t>
                </a:r>
              </a:p>
              <a:p>
                <a:r>
                  <a:rPr lang="en-IN" sz="2800" dirty="0"/>
                  <a:t>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IN" sz="2800" b="0" i="1" baseline="-25000" smtClean="0">
                        <a:latin typeface="Cambria Math" panose="02040503050406030204" pitchFamily="18" charset="0"/>
                      </a:rPr>
                      <m:t>0 </m:t>
                    </m:r>
                    <m:r>
                      <m:rPr>
                        <m:sty m:val="p"/>
                      </m:rPr>
                      <a:rPr lang="en-IN" sz="2800" b="0" i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IN" sz="2800" dirty="0"/>
                  <a:t>nterface width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54B2E06-2E77-6825-BF23-9991C6442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303" y="2879772"/>
                <a:ext cx="6096000" cy="1384995"/>
              </a:xfrm>
              <a:prstGeom prst="rect">
                <a:avLst/>
              </a:prstGeom>
              <a:blipFill>
                <a:blip r:embed="rId4"/>
                <a:stretch>
                  <a:fillRect t="-3947" b="-114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F3CBD16-CA47-90D0-1569-82320FB48E0A}"/>
              </a:ext>
            </a:extLst>
          </p:cNvPr>
          <p:cNvSpPr txBox="1"/>
          <p:nvPr/>
        </p:nvSpPr>
        <p:spPr>
          <a:xfrm>
            <a:off x="1050234" y="5122816"/>
            <a:ext cx="1009153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Interfacial energy can be obtained experimentally.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7678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C14FB-BF9A-E525-47BB-DAD8BD5AC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Parameter (Pure Ni)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5C36E03-F06C-89BF-C8DA-8183F5800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248" y="1690688"/>
            <a:ext cx="4842104" cy="2445214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271E07-1FA2-7E5F-1534-9AF73D19F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304" y="1690606"/>
            <a:ext cx="5983605" cy="24453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75D6E9-DAF1-6924-D03A-BF7D4A46B91A}"/>
              </a:ext>
            </a:extLst>
          </p:cNvPr>
          <p:cNvSpPr txBox="1"/>
          <p:nvPr/>
        </p:nvSpPr>
        <p:spPr>
          <a:xfrm>
            <a:off x="838200" y="4318782"/>
            <a:ext cx="1038781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Addition of noise term will induce side branching. This will act as thermal fluctuation.</a:t>
            </a:r>
          </a:p>
          <a:p>
            <a:r>
              <a:rPr lang="en-IN" sz="2200" dirty="0"/>
              <a:t> </a:t>
            </a:r>
          </a:p>
          <a:p>
            <a:endParaRPr lang="en-IN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Selection of grid spacing, time step , interface width is critical.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0A72F31-4EE8-17BC-020C-3F0D43ED6643}"/>
                  </a:ext>
                </a:extLst>
              </p:cNvPr>
              <p:cNvSpPr txBox="1"/>
              <p:nvPr/>
            </p:nvSpPr>
            <p:spPr>
              <a:xfrm>
                <a:off x="1185731" y="4828758"/>
                <a:ext cx="3359638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𝑁𝑜𝑖𝑠𝑒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=16 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  <m:sup>
                          <m:r>
                            <a:rPr lang="en-IN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0A72F31-4EE8-17BC-020C-3F0D43ED6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731" y="4828758"/>
                <a:ext cx="3359638" cy="338554"/>
              </a:xfrm>
              <a:prstGeom prst="rect">
                <a:avLst/>
              </a:prstGeom>
              <a:blipFill>
                <a:blip r:embed="rId4"/>
                <a:stretch>
                  <a:fillRect l="-1452" t="-3571" r="-363" b="-32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5C4B2A93-5AC9-EBD0-6D1E-9BF554E506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3721" y="5948993"/>
            <a:ext cx="2398591" cy="45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446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80507-4FFB-5278-4EB7-1CEABA40F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Verification of Kobayashi Model(1993)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C985C-1ABA-E5B3-4FB2-DC85D8064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3284"/>
            <a:ext cx="10515600" cy="4351338"/>
          </a:xfrm>
        </p:spPr>
        <p:txBody>
          <a:bodyPr/>
          <a:lstStyle/>
          <a:p>
            <a:r>
              <a:rPr lang="en-IN" dirty="0"/>
              <a:t>Kobayashi presented phase field model for pure melt .</a:t>
            </a:r>
          </a:p>
          <a:p>
            <a:r>
              <a:rPr lang="en-IN" dirty="0"/>
              <a:t>The model verification is done here.</a:t>
            </a:r>
          </a:p>
          <a:p>
            <a:r>
              <a:rPr lang="en-IN" dirty="0"/>
              <a:t>According to Kobayashi model free energy functional is given as: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3B2687-B504-84B7-AFA2-50D51DA0D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751" y="3429000"/>
            <a:ext cx="3457575" cy="790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E4F700-7824-9B75-C90A-A2F4A731A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593" y="4591050"/>
            <a:ext cx="4581525" cy="723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7589F6-A7BA-2104-36D9-2150025176F6}"/>
              </a:ext>
            </a:extLst>
          </p:cNvPr>
          <p:cNvSpPr txBox="1"/>
          <p:nvPr/>
        </p:nvSpPr>
        <p:spPr>
          <a:xfrm>
            <a:off x="6215270" y="3824287"/>
            <a:ext cx="5706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(m) </a:t>
            </a:r>
            <a:r>
              <a:rPr lang="en-IN" dirty="0"/>
              <a:t>is parameter which depends on temperature.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FABBF4-311B-D05E-2D3C-6637FB2C6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702" y="4298394"/>
            <a:ext cx="3133725" cy="5810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B2F5611-77BB-3954-E2D2-B067FCA0B40A}"/>
                  </a:ext>
                </a:extLst>
              </p:cNvPr>
              <p:cNvSpPr txBox="1"/>
              <p:nvPr/>
            </p:nvSpPr>
            <p:spPr>
              <a:xfrm>
                <a:off x="6215270" y="5088835"/>
                <a:ext cx="5433391" cy="944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𝑚𝑎𝑡𝑒𝑟𝑖𝑎𝑙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𝑐𝑜𝑛𝑠𝑡𝑎𝑛𝑡𝑠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endParaRPr lang="en-IN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B2F5611-77BB-3954-E2D2-B067FCA0B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270" y="5088835"/>
                <a:ext cx="5433391" cy="944746"/>
              </a:xfrm>
              <a:prstGeom prst="rect">
                <a:avLst/>
              </a:prstGeom>
              <a:blipFill>
                <a:blip r:embed="rId5"/>
                <a:stretch>
                  <a:fillRect l="-786" t="-12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4925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1617</TotalTime>
  <Words>655</Words>
  <Application>Microsoft Office PowerPoint</Application>
  <PresentationFormat>Widescreen</PresentationFormat>
  <Paragraphs>86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Courier New</vt:lpstr>
      <vt:lpstr>GreekC</vt:lpstr>
      <vt:lpstr>NexusSans</vt:lpstr>
      <vt:lpstr>Office Theme</vt:lpstr>
      <vt:lpstr>Phase Field Modelling  of Solidification</vt:lpstr>
      <vt:lpstr>Phase Field Modelling</vt:lpstr>
      <vt:lpstr>Phase Field Modelling </vt:lpstr>
      <vt:lpstr>Phase Field Modelling</vt:lpstr>
      <vt:lpstr>Phase Field Modelling</vt:lpstr>
      <vt:lpstr>Phase Field Variable (f)</vt:lpstr>
      <vt:lpstr>Phase Field Models For Solidification</vt:lpstr>
      <vt:lpstr>Kobayashi Model</vt:lpstr>
      <vt:lpstr>Kobayashi Model</vt:lpstr>
      <vt:lpstr>Binary Alloys</vt:lpstr>
      <vt:lpstr>Binary Alloy</vt:lpstr>
      <vt:lpstr> J.A. Warren and W.J. Boettinger Model</vt:lpstr>
      <vt:lpstr> J.A. Warren and W.J. Boettinger Model</vt:lpstr>
      <vt:lpstr>Anisotropy</vt:lpstr>
      <vt:lpstr>Model Formulation (Pure Melt)</vt:lpstr>
      <vt:lpstr>Model Formulation (Pure Melt)</vt:lpstr>
      <vt:lpstr>Model Parameter (Pure Ni)</vt:lpstr>
      <vt:lpstr>Verification of Kobayashi Model(1993)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Field Modelling  of Dendritic Solidification</dc:title>
  <dc:creator>varadsanas@gmail.com</dc:creator>
  <cp:lastModifiedBy>varadsanas@gmail.com</cp:lastModifiedBy>
  <cp:revision>9</cp:revision>
  <dcterms:created xsi:type="dcterms:W3CDTF">2023-01-09T07:43:23Z</dcterms:created>
  <dcterms:modified xsi:type="dcterms:W3CDTF">2023-02-23T13:40:49Z</dcterms:modified>
</cp:coreProperties>
</file>