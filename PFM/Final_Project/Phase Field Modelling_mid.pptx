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22" r:id="rId2"/>
    <p:sldId id="304" r:id="rId3"/>
    <p:sldId id="274" r:id="rId4"/>
    <p:sldId id="320" r:id="rId5"/>
    <p:sldId id="324" r:id="rId6"/>
    <p:sldId id="325" r:id="rId7"/>
    <p:sldId id="326" r:id="rId8"/>
    <p:sldId id="341" r:id="rId9"/>
    <p:sldId id="280" r:id="rId10"/>
    <p:sldId id="301" r:id="rId11"/>
    <p:sldId id="279" r:id="rId12"/>
    <p:sldId id="302" r:id="rId13"/>
    <p:sldId id="321" r:id="rId14"/>
    <p:sldId id="305" r:id="rId15"/>
    <p:sldId id="333" r:id="rId16"/>
    <p:sldId id="334" r:id="rId17"/>
    <p:sldId id="335" r:id="rId18"/>
    <p:sldId id="336" r:id="rId19"/>
    <p:sldId id="337" r:id="rId20"/>
    <p:sldId id="331" r:id="rId21"/>
    <p:sldId id="339" r:id="rId22"/>
    <p:sldId id="338" r:id="rId23"/>
    <p:sldId id="303" r:id="rId24"/>
    <p:sldId id="306" r:id="rId25"/>
    <p:sldId id="307" r:id="rId26"/>
    <p:sldId id="308" r:id="rId27"/>
    <p:sldId id="310" r:id="rId28"/>
    <p:sldId id="311" r:id="rId29"/>
    <p:sldId id="282" r:id="rId30"/>
    <p:sldId id="312" r:id="rId31"/>
    <p:sldId id="313" r:id="rId32"/>
    <p:sldId id="314" r:id="rId33"/>
    <p:sldId id="291" r:id="rId34"/>
    <p:sldId id="315" r:id="rId35"/>
    <p:sldId id="318" r:id="rId36"/>
    <p:sldId id="288" r:id="rId37"/>
    <p:sldId id="319" r:id="rId38"/>
    <p:sldId id="289" r:id="rId39"/>
    <p:sldId id="290" r:id="rId40"/>
    <p:sldId id="292" r:id="rId41"/>
    <p:sldId id="295" r:id="rId42"/>
    <p:sldId id="296" r:id="rId43"/>
    <p:sldId id="297" r:id="rId44"/>
    <p:sldId id="332" r:id="rId45"/>
    <p:sldId id="323" r:id="rId46"/>
    <p:sldId id="34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F283F-18DB-41D7-AAEA-2D797AD0812B}" v="2035" dt="2023-02-27T03:36:19.6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85D81-7D01-4AF5-9CE4-21F0CF638ADA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79D7F-C243-4DB8-9A2E-79E2204DBE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3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E73A-695B-5DD1-B60F-2DD5288B2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D09BE-6755-544E-7D55-E67505F12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225B4-9D40-634C-38FB-552171B2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8027-57E0-8B13-8D24-3A46496C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2F5B0-94F1-1A4E-7336-0E4E8D09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4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1389-70E4-1927-3F8A-1F2FD824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9DD73-6C17-8DDC-EFFE-AA9AD4FA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DE391-F6F4-C7D6-1116-7C922B74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9A6E1-8431-5675-9B77-E585A50C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10CAE-A2C3-7DFD-1DB9-B3086896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5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1741-56B5-11C0-4D62-E469A261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D763-01E8-EDCA-D038-B08A9A813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E2389-2A4D-8F09-85CC-52824129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33518-3B7E-5B75-29EF-E2261074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EFA57-956A-ABEA-B5EE-AB078E04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64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48B4-5F45-7599-EDF2-6EA3F2CE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E311E-4A2B-D30F-3DA6-667F3A72E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FAC-F74F-8A86-E074-9E132F623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33B61-FCBC-5ACE-1E4A-20FC23FD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6C9B1-1675-3631-988A-1E009C5A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BA4A3-670C-59C8-554A-B203BC42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99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BD6B-7AA5-D942-A40F-1ED10C99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F5D56-8894-F38E-E878-62C9658B6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F0A3B-EB39-4B4E-DDCB-BEC91AB11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5EDEB-10AE-C25E-7BBB-8CE094C7F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AD8C3-D7BE-D102-5139-6E97728EB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ADFED-ED07-BA99-1517-01C6D724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DC006-1750-1BBA-3CD9-6F9B272F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70D45-854B-C202-97F3-28F125D77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7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66AF-92B5-43FD-D0F5-08224663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0BAA3-77A1-019B-B9C4-EE26C0A1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59EFA-9BA2-3007-2C1C-E467952C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CE0FA-240B-DAEF-1ED4-CAEC80AD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3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C4DB70-56A5-5455-E055-4BC40ECF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25930-1FF7-2DBE-B903-F7966B4C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7C545-CCCF-3DDA-4E66-AF3D1D4C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7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2E22-CFCC-B40C-14C5-455F0866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372D3-56CE-1A80-2E8B-09785F3B6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D4425-CFA1-967F-51A8-A78AE16B9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6317F-C773-C215-1443-EF0769318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E63AB-4D99-203D-BE2E-03B12A0B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79FA9-D02E-EB93-C854-ADC6F155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7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FF9A-C23D-F2D2-2402-078400BD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2F5B6-E529-E780-6154-1A9577C73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2BAA5-0CE7-2B4F-6EF2-9A4C7B603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3BA6-68E7-47C9-AE60-A7604600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32932-478E-E772-232F-7548F337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6055E-0CAE-00FC-4297-9BC5B1C6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61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2FF9-3D47-78A5-7BA0-49A551C2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FDFFD-91D2-6898-1CA2-078412A94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B5346-0946-6A7C-EB28-DC7F0D38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73E8F-992C-419B-4D4D-221CA090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BC4EE-6DA5-DE51-3E6B-ADCEE5B7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08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5371A-5417-49CB-F056-F7E012303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03B75-DC19-96A7-6670-582B10119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6453-A138-D1A7-24C9-A8C99D7A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A90B5-7460-687B-2BC2-13F2B979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E8C79-76F0-A38D-16FB-41126096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31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C2EEED-3881-8F44-4FB3-B1BBD6BC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2539E-EA9E-B865-6ED9-D370A4590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9C1EB-2D50-EA05-909D-1D7C14D70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62540-02F0-4F84-BA2F-D3D8E71DF4CE}" type="datetimeFigureOut">
              <a:rPr lang="en-IN" smtClean="0"/>
              <a:t>07-03-2023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9CC45-DE97-E068-C7AC-4D0ECC6B7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B5144-64AE-51E2-9E7E-7FFF629CD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1557E-A7C4-4D30-AB3F-3EA1BEB902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6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2C97E0-E6C0-2827-9211-453E1F24CBA2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0FF12-669B-DE54-BBCB-048C61CD5ABD}"/>
              </a:ext>
            </a:extLst>
          </p:cNvPr>
          <p:cNvSpPr txBox="1"/>
          <p:nvPr/>
        </p:nvSpPr>
        <p:spPr>
          <a:xfrm>
            <a:off x="914399" y="964915"/>
            <a:ext cx="6705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Phase Field Modelling of Solidification 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9E0B4-0AF8-7626-38B3-E758BFA3D07E}"/>
              </a:ext>
            </a:extLst>
          </p:cNvPr>
          <p:cNvSpPr txBox="1"/>
          <p:nvPr/>
        </p:nvSpPr>
        <p:spPr>
          <a:xfrm>
            <a:off x="1106556" y="2690192"/>
            <a:ext cx="632128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By   </a:t>
            </a:r>
            <a:r>
              <a:rPr lang="en-IN" sz="2400" dirty="0" err="1"/>
              <a:t>Sanas</a:t>
            </a:r>
            <a:r>
              <a:rPr lang="en-IN" sz="2400" dirty="0"/>
              <a:t> Varad Ravindra</a:t>
            </a:r>
          </a:p>
          <a:p>
            <a:r>
              <a:rPr lang="en-IN" sz="2400" dirty="0"/>
              <a:t>        (SC19B032)</a:t>
            </a:r>
          </a:p>
          <a:p>
            <a:r>
              <a:rPr lang="en-IN" sz="2400" dirty="0"/>
              <a:t>       Dept. of Aerospace </a:t>
            </a:r>
            <a:r>
              <a:rPr lang="en-IN" sz="2400" dirty="0" err="1"/>
              <a:t>Engg</a:t>
            </a:r>
            <a:r>
              <a:rPr lang="en-IN" sz="2400" dirty="0"/>
              <a:t>.</a:t>
            </a:r>
          </a:p>
          <a:p>
            <a:r>
              <a:rPr lang="en-IN" sz="2400" dirty="0"/>
              <a:t>       IIST.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6299D-DE57-6E66-08CD-9B3E9B28D1F3}"/>
              </a:ext>
            </a:extLst>
          </p:cNvPr>
          <p:cNvSpPr txBox="1"/>
          <p:nvPr/>
        </p:nvSpPr>
        <p:spPr>
          <a:xfrm>
            <a:off x="1099929" y="4683206"/>
            <a:ext cx="58972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Guided by </a:t>
            </a:r>
          </a:p>
          <a:p>
            <a:endParaRPr lang="en-IN" sz="2400" dirty="0"/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</a:t>
            </a:r>
            <a:r>
              <a:rPr lang="en-IN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Dr.</a:t>
            </a: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Chakravarthy P.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IN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Dr.</a:t>
            </a:r>
            <a:r>
              <a:rPr lang="en-IN" sz="2400" dirty="0">
                <a:solidFill>
                  <a:srgbClr val="000000"/>
                </a:solidFill>
                <a:latin typeface="Arial" panose="020B0604020202020204" pitchFamily="34" charset="0"/>
              </a:rPr>
              <a:t> B. S. Girish </a:t>
            </a:r>
            <a:endParaRPr lang="en-IN" sz="2400" b="0" dirty="0">
              <a:effectLst/>
            </a:endParaRP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1026" name="Picture 2" descr="Image result for iist logo">
            <a:extLst>
              <a:ext uri="{FF2B5EF4-FFF2-40B4-BE49-F238E27FC236}">
                <a16:creationId xmlns:a16="http://schemas.microsoft.com/office/drawing/2014/main" id="{1F0032BE-68D0-8063-1C52-08607FAFD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9" y="701122"/>
            <a:ext cx="1753839" cy="175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67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E8FB-5D92-7E11-1E40-28D8BA48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EE2B3-5F81-3E84-0BDE-C2A974C05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8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95A2A-3EF2-7468-F1D1-983D3BBBA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8878" cy="4190862"/>
          </a:xfrm>
        </p:spPr>
        <p:txBody>
          <a:bodyPr>
            <a:normAutofit/>
          </a:bodyPr>
          <a:lstStyle/>
          <a:p>
            <a:r>
              <a:rPr lang="en-US" sz="2200" dirty="0"/>
              <a:t>The physical and mechanical properties of material depends on microstructure.</a:t>
            </a:r>
          </a:p>
          <a:p>
            <a:r>
              <a:rPr lang="en-US" sz="2200" b="0" i="0" dirty="0">
                <a:effectLst/>
              </a:rPr>
              <a:t>Phase-field modelling is a powerful tool for modelling </a:t>
            </a:r>
            <a:r>
              <a:rPr lang="en-US" sz="2200" dirty="0"/>
              <a:t>microstructure evolution with time.</a:t>
            </a:r>
            <a:endParaRPr lang="en-US" sz="2200" b="0" i="0" dirty="0">
              <a:effectLst/>
            </a:endParaRPr>
          </a:p>
          <a:p>
            <a:r>
              <a:rPr lang="en-US" sz="2200" dirty="0"/>
              <a:t>The temporal evolution of microstructure is expressed in terms of set of differential equations in time and spatial coordinates.</a:t>
            </a:r>
          </a:p>
          <a:p>
            <a:r>
              <a:rPr lang="en-US" sz="2200" dirty="0"/>
              <a:t>These equations are solved using mathematical methods.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  <a:p>
            <a:endParaRPr lang="en-US" b="0" i="0" dirty="0">
              <a:effectLst/>
            </a:endParaRPr>
          </a:p>
          <a:p>
            <a:endParaRPr lang="en-US" b="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25FE9-A96B-B3E2-A984-5E1DF7998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712" y="1825625"/>
            <a:ext cx="338137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0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E828-4B23-5E83-3BD6-5141EB7F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957F-0AAD-B130-39C3-687A9114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It has applications in simulating interfacial problems such as 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Solidification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8D09F5-BBA1-807F-B187-1D07D1638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595" y="2867464"/>
            <a:ext cx="3171825" cy="289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70FAB7-52D2-7B47-7739-5D6FA57FA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135" y="3074338"/>
            <a:ext cx="2949526" cy="26887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6CB6C1-8701-5788-8433-6FA86B441F8C}"/>
              </a:ext>
            </a:extLst>
          </p:cNvPr>
          <p:cNvSpPr txBox="1"/>
          <p:nvPr/>
        </p:nvSpPr>
        <p:spPr>
          <a:xfrm>
            <a:off x="1969477" y="6006905"/>
            <a:ext cx="7906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Phase Field Simulation of Al-Mg dendrite [2]</a:t>
            </a:r>
          </a:p>
        </p:txBody>
      </p:sp>
    </p:spTree>
    <p:extLst>
      <p:ext uri="{BB962C8B-B14F-4D97-AF65-F5344CB8AC3E}">
        <p14:creationId xmlns:p14="http://schemas.microsoft.com/office/powerpoint/2010/main" val="161270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E828-4B23-5E83-3BD6-5141EB7F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957F-0AAD-B130-39C3-687A9114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Grain growth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Gran structures generated using the phase field model for grain growth. |  Download Scientific Diagram">
            <a:extLst>
              <a:ext uri="{FF2B5EF4-FFF2-40B4-BE49-F238E27FC236}">
                <a16:creationId xmlns:a16="http://schemas.microsoft.com/office/drawing/2014/main" id="{BC3C4643-58CF-84CB-E41D-17FBE4349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25" y="3357783"/>
            <a:ext cx="6979189" cy="281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02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E828-4B23-5E83-3BD6-5141EB7F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957F-0AAD-B130-39C3-687A9114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Precipitate growth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FDC4D-71D7-C988-EED8-8ECDD85C9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97" y="3533899"/>
            <a:ext cx="9015631" cy="1980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E70A7-2CDD-6ABF-3907-56A6DEDB944B}"/>
              </a:ext>
            </a:extLst>
          </p:cNvPr>
          <p:cNvSpPr txBox="1"/>
          <p:nvPr/>
        </p:nvSpPr>
        <p:spPr>
          <a:xfrm>
            <a:off x="3685920" y="5636650"/>
            <a:ext cx="7906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Precipitation of Cu in Fe-Cu-Mn-Ni alloy at 823 K.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E828-4B23-5E83-3BD6-5141EB7F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7957F-0AAD-B130-39C3-687A9114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Crack propagation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44622-1696-7009-6371-F41BD8A8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763" y="3044923"/>
            <a:ext cx="5276850" cy="2990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CA3CA7-AC87-7AD5-6633-A3AC3259D993}"/>
              </a:ext>
            </a:extLst>
          </p:cNvPr>
          <p:cNvSpPr txBox="1"/>
          <p:nvPr/>
        </p:nvSpPr>
        <p:spPr>
          <a:xfrm>
            <a:off x="3432313" y="6176963"/>
            <a:ext cx="5276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333333"/>
                </a:solidFill>
                <a:effectLst/>
              </a:rPr>
              <a:t>Phase field simulation of fatigue crack propagation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2876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0FC3-1A0A-EA72-2DBB-1FEC5B84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Dendrite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2B7FD-160D-64ED-1172-6699B2A2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2243" cy="4181280"/>
          </a:xfrm>
        </p:spPr>
        <p:txBody>
          <a:bodyPr/>
          <a:lstStyle/>
          <a:p>
            <a:r>
              <a:rPr lang="en-US" dirty="0"/>
              <a:t>The dendrite growth is a common phenomenon in metals and alloys.</a:t>
            </a:r>
          </a:p>
          <a:p>
            <a:r>
              <a:rPr lang="en-US" dirty="0"/>
              <a:t>The dendrite are formed during the solidification. </a:t>
            </a:r>
          </a:p>
          <a:p>
            <a:r>
              <a:rPr lang="en-US" dirty="0"/>
              <a:t>The study of dendrites, their size, shape and growth velocity is very important.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80630-AA9E-9F2F-7F1F-6267A831C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443" y="2308061"/>
            <a:ext cx="4451695" cy="321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2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DA00-0F73-45DB-7B13-D6F08E22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Background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51698-EBCF-53BE-7263-A907E9B97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991" y="1592549"/>
            <a:ext cx="3829196" cy="36729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8AD150-7598-C00F-E8FB-F37929EF1868}"/>
              </a:ext>
            </a:extLst>
          </p:cNvPr>
          <p:cNvSpPr txBox="1"/>
          <p:nvPr/>
        </p:nvSpPr>
        <p:spPr>
          <a:xfrm>
            <a:off x="546789" y="1813842"/>
            <a:ext cx="6450496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Before phase field modelling Solidification simulation was based on work of Stephan (1899) known as Sharp Interface Model.</a:t>
            </a:r>
          </a:p>
          <a:p>
            <a:endParaRPr lang="en-IN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 sharp interface model interface between different phases is considered to be infinitely sharp.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Governing equations consists diffusion equations which need to be solved for each phase. 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Along with that two moving boundary conditions also needs to be applied at the solid liquid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Flux Conservation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Gibb’s Thompson condition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95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Background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BE16-C9C1-3330-4ABF-117ED61D1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51504" cy="326321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S</a:t>
            </a:r>
            <a:r>
              <a:rPr lang="en-IN" sz="2400" dirty="0"/>
              <a:t>harp interface model is a free boundary problem. 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In this model a constant tracking of interface is required for applying boundary conditions.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The numerical simulation of this model is difficult.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On the other hand, there is no need to track the interface in phase field modelling.</a:t>
            </a:r>
          </a:p>
          <a:p>
            <a:pPr>
              <a:lnSpc>
                <a:spcPct val="100000"/>
              </a:lnSpc>
            </a:pPr>
            <a:endParaRPr lang="en-IN" sz="24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267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36BBAE-F23F-FEEF-5A16-4F3E7540E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851" y="2186112"/>
            <a:ext cx="4092096" cy="40165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98F19F-5106-0F55-EC24-633B4EA2F9CC}"/>
              </a:ext>
            </a:extLst>
          </p:cNvPr>
          <p:cNvSpPr txBox="1"/>
          <p:nvPr/>
        </p:nvSpPr>
        <p:spPr>
          <a:xfrm>
            <a:off x="4655947" y="2116918"/>
            <a:ext cx="67243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 phase field method an interface is assumed to be of finite thickness.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Microstructure is expressed in terms of field variables.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Field variables are continuous functions of space and time.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the bulk phase, field variables take same constant value as in sharp interface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at the interface, its value changes smoothly and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7662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2B65-697C-13A8-F428-53F029B9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Field Modelling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65E261-D9B9-8043-44F2-19E1AED8708E}"/>
              </a:ext>
            </a:extLst>
          </p:cNvPr>
          <p:cNvSpPr/>
          <p:nvPr/>
        </p:nvSpPr>
        <p:spPr>
          <a:xfrm>
            <a:off x="4948858" y="1417983"/>
            <a:ext cx="2294283" cy="1454944"/>
          </a:xfrm>
          <a:prstGeom prst="ellips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Phase Field Variables</a:t>
            </a:r>
            <a:endParaRPr lang="en-IN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DC49CE-7D39-6282-F5DB-6B0327143D47}"/>
              </a:ext>
            </a:extLst>
          </p:cNvPr>
          <p:cNvSpPr/>
          <p:nvPr/>
        </p:nvSpPr>
        <p:spPr>
          <a:xfrm>
            <a:off x="2716696" y="3203367"/>
            <a:ext cx="1961322" cy="1099930"/>
          </a:xfrm>
          <a:prstGeom prst="round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Conserved Variables</a:t>
            </a:r>
            <a:endParaRPr lang="en-IN" sz="2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5E2F31-F57D-7A02-2BCD-BAE65D141C2F}"/>
              </a:ext>
            </a:extLst>
          </p:cNvPr>
          <p:cNvSpPr/>
          <p:nvPr/>
        </p:nvSpPr>
        <p:spPr>
          <a:xfrm>
            <a:off x="7414591" y="3203367"/>
            <a:ext cx="1961322" cy="1099930"/>
          </a:xfrm>
          <a:prstGeom prst="round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Non- Conserved Variables </a:t>
            </a:r>
            <a:endParaRPr lang="en-IN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308DF64-2F4B-DBC2-9D42-7EAE3F6E8B7A}"/>
              </a:ext>
            </a:extLst>
          </p:cNvPr>
          <p:cNvCxnSpPr>
            <a:cxnSpLocks/>
            <a:stCxn id="3" idx="3"/>
            <a:endCxn id="4" idx="0"/>
          </p:cNvCxnSpPr>
          <p:nvPr/>
        </p:nvCxnSpPr>
        <p:spPr>
          <a:xfrm flipH="1">
            <a:off x="3697357" y="2659855"/>
            <a:ext cx="1587491" cy="5435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39B7EB-0A97-0762-B9B0-A5E0E690F119}"/>
              </a:ext>
            </a:extLst>
          </p:cNvPr>
          <p:cNvCxnSpPr>
            <a:cxnSpLocks/>
            <a:stCxn id="3" idx="5"/>
            <a:endCxn id="5" idx="0"/>
          </p:cNvCxnSpPr>
          <p:nvPr/>
        </p:nvCxnSpPr>
        <p:spPr>
          <a:xfrm>
            <a:off x="6907151" y="2659855"/>
            <a:ext cx="1488101" cy="5435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D341C0-ED5A-A322-568C-E95694D45BBD}"/>
                  </a:ext>
                </a:extLst>
              </p:cNvPr>
              <p:cNvSpPr/>
              <p:nvPr/>
            </p:nvSpPr>
            <p:spPr>
              <a:xfrm>
                <a:off x="838200" y="4485859"/>
                <a:ext cx="5257800" cy="2277547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Local Composition (c)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Density etc.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𝑑𝑣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D341C0-ED5A-A322-568C-E95694D45B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85859"/>
                <a:ext cx="5257800" cy="2277547"/>
              </a:xfrm>
              <a:prstGeom prst="rect">
                <a:avLst/>
              </a:prstGeom>
              <a:blipFill>
                <a:blip r:embed="rId2"/>
                <a:stretch>
                  <a:fillRect l="-150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A210CB-D7D4-4297-EF48-4C41D34751A4}"/>
                  </a:ext>
                </a:extLst>
              </p:cNvPr>
              <p:cNvSpPr txBox="1"/>
              <p:nvPr/>
            </p:nvSpPr>
            <p:spPr>
              <a:xfrm>
                <a:off x="6796480" y="4485859"/>
                <a:ext cx="4933122" cy="22775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Phase-field variable (</a:t>
                </a:r>
                <a:r>
                  <a:rPr lang="en-IN" sz="2400" dirty="0">
                    <a:latin typeface="GreekC_IV50" panose="00000400000000000000" pitchFamily="2" charset="0"/>
                    <a:cs typeface="GreekC_IV50" panose="00000400000000000000" pitchFamily="2" charset="0"/>
                  </a:rPr>
                  <a:t>Φ</a:t>
                </a:r>
                <a:r>
                  <a:rPr lang="en-IN" sz="2400" dirty="0">
                    <a:cs typeface="GreekC_IV50" panose="00000400000000000000" pitchFamily="2" charset="0"/>
                  </a:rPr>
                  <a:t>)</a:t>
                </a:r>
                <a:r>
                  <a:rPr lang="en-IN" sz="2400" dirty="0">
                    <a:latin typeface="GreekC_IV50" panose="00000400000000000000" pitchFamily="2" charset="0"/>
                    <a:cs typeface="GreekC_IV50" panose="00000400000000000000" pitchFamily="2" charset="0"/>
                  </a:rPr>
                  <a:t> </a:t>
                </a:r>
                <a:r>
                  <a:rPr lang="en-IN" sz="2400" dirty="0">
                    <a:cs typeface="GreekC_IV50" panose="00000400000000000000" pitchFamily="2" charset="0"/>
                  </a:rPr>
                  <a:t>in solidification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cs typeface="GreekC_IV50" panose="00000400000000000000" pitchFamily="2" charset="0"/>
                  </a:rPr>
                  <a:t>Order Parameter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reekC_IV50" panose="00000400000000000000" pitchFamily="2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reekC_IV50" panose="00000400000000000000" pitchFamily="2" charset="0"/>
                      </a:rPr>
                      <m:t>)</m:t>
                    </m:r>
                  </m:oMath>
                </a14:m>
                <a:r>
                  <a:rPr lang="en-IN" sz="2400" dirty="0">
                    <a:cs typeface="GreekC_IV50" panose="00000400000000000000" pitchFamily="2" charset="0"/>
                  </a:rPr>
                  <a:t> in grain growth simulation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A210CB-D7D4-4297-EF48-4C41D3475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480" y="4485859"/>
                <a:ext cx="4933122" cy="2277547"/>
              </a:xfrm>
              <a:prstGeom prst="rect">
                <a:avLst/>
              </a:prstGeom>
              <a:blipFill>
                <a:blip r:embed="rId3"/>
                <a:stretch>
                  <a:fillRect l="-160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144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B284-2D6D-84AA-0E3B-2AC8FF88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Field Variable </a:t>
            </a:r>
            <a:r>
              <a:rPr lang="en-US" sz="4400" dirty="0"/>
              <a:t>(</a:t>
            </a:r>
            <a:r>
              <a:rPr lang="en-IN" sz="4400" dirty="0">
                <a:latin typeface="GreekC_IV50" panose="00000400000000000000" pitchFamily="2" charset="0"/>
                <a:cs typeface="GreekC_IV50" panose="00000400000000000000" pitchFamily="2" charset="0"/>
              </a:rPr>
              <a:t>Φ</a:t>
            </a:r>
            <a:r>
              <a:rPr lang="en-IN" sz="4400" dirty="0">
                <a:cs typeface="GreekC_IV50" panose="00000400000000000000" pitchFamily="2" charset="0"/>
              </a:rPr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BC57-4FF3-AD6B-DE1C-9069E68BF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28791" cy="3965575"/>
          </a:xfrm>
        </p:spPr>
        <p:txBody>
          <a:bodyPr>
            <a:normAutofit fontScale="92500"/>
          </a:bodyPr>
          <a:lstStyle/>
          <a:p>
            <a:r>
              <a:rPr lang="en-US" dirty="0"/>
              <a:t>It is a Non conserved variable.</a:t>
            </a:r>
          </a:p>
          <a:p>
            <a:r>
              <a:rPr lang="en-US" dirty="0"/>
              <a:t>In the case of modelling solidification process we need one phase field variable </a:t>
            </a:r>
            <a:r>
              <a:rPr lang="en-IN" sz="2800" dirty="0">
                <a:latin typeface="GreekC_IV50" panose="00000400000000000000" pitchFamily="2" charset="0"/>
                <a:cs typeface="GreekC_IV50" panose="00000400000000000000" pitchFamily="2" charset="0"/>
              </a:rPr>
              <a:t>Φ.</a:t>
            </a:r>
          </a:p>
          <a:p>
            <a:r>
              <a:rPr lang="en-IN" sz="2800" dirty="0">
                <a:latin typeface="GreekC_IV50" panose="00000400000000000000" pitchFamily="2" charset="0"/>
                <a:cs typeface="GreekC_IV50" panose="00000400000000000000" pitchFamily="2" charset="0"/>
              </a:rPr>
              <a:t>Φ </a:t>
            </a:r>
            <a:r>
              <a:rPr lang="en-IN" dirty="0">
                <a:cs typeface="GreekC_IV50" panose="00000400000000000000" pitchFamily="2" charset="0"/>
              </a:rPr>
              <a:t>tells phase of the system at a particular point in the domain at particular a time.</a:t>
            </a:r>
            <a:endParaRPr lang="en-IN" sz="2800" dirty="0">
              <a:cs typeface="GreekC_IV50" panose="00000400000000000000" pitchFamily="2" charset="0"/>
            </a:endParaRPr>
          </a:p>
          <a:p>
            <a:r>
              <a:rPr lang="en-IN" sz="2800" dirty="0">
                <a:latin typeface="GreekC_IV50" panose="00000400000000000000" pitchFamily="2" charset="0"/>
                <a:cs typeface="GreekC_IV50" panose="00000400000000000000" pitchFamily="2" charset="0"/>
              </a:rPr>
              <a:t>Φ</a:t>
            </a:r>
            <a:r>
              <a:rPr lang="en-IN" sz="2800" dirty="0">
                <a:cs typeface="GreekC_IV50" panose="00000400000000000000" pitchFamily="2" charset="0"/>
              </a:rPr>
              <a:t>= 0  in the liquid phase and </a:t>
            </a:r>
            <a:r>
              <a:rPr lang="en-IN" sz="2800" dirty="0">
                <a:latin typeface="GreekC_IV50" panose="00000400000000000000" pitchFamily="2" charset="0"/>
                <a:cs typeface="GreekC_IV50" panose="00000400000000000000" pitchFamily="2" charset="0"/>
              </a:rPr>
              <a:t>Φ</a:t>
            </a:r>
            <a:r>
              <a:rPr lang="en-IN" sz="2800" dirty="0">
                <a:cs typeface="GreekC_IV50" panose="00000400000000000000" pitchFamily="2" charset="0"/>
              </a:rPr>
              <a:t>= 1 in solid phase.</a:t>
            </a:r>
          </a:p>
          <a:p>
            <a:r>
              <a:rPr lang="en-IN" dirty="0">
                <a:cs typeface="GreekC_IV50" panose="00000400000000000000" pitchFamily="2" charset="0"/>
              </a:rPr>
              <a:t>At the interface value will change continuously from 0 to 1.</a:t>
            </a:r>
            <a:endParaRPr lang="en-IN" sz="2800" dirty="0">
              <a:cs typeface="GreekC_IV50" panose="00000400000000000000" pitchFamily="2" charset="0"/>
            </a:endParaRPr>
          </a:p>
          <a:p>
            <a:endParaRPr lang="en-IN" sz="2800" dirty="0">
              <a:latin typeface="GreekC_IV50" panose="00000400000000000000" pitchFamily="2" charset="0"/>
              <a:cs typeface="GreekC_IV50" panose="00000400000000000000" pitchFamily="2" charset="0"/>
            </a:endParaRPr>
          </a:p>
          <a:p>
            <a:endParaRPr lang="en-IN" sz="2800" dirty="0">
              <a:latin typeface="GreekC_IV50" panose="00000400000000000000" pitchFamily="2" charset="0"/>
              <a:cs typeface="GreekC_IV50" panose="00000400000000000000" pitchFamily="2" charset="0"/>
            </a:endParaRPr>
          </a:p>
          <a:p>
            <a:endParaRPr lang="en-IN" sz="2800" dirty="0">
              <a:latin typeface="GreekC_IV50" panose="00000400000000000000" pitchFamily="2" charset="0"/>
              <a:cs typeface="GreekC_IV50" panose="00000400000000000000" pitchFamily="2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DA483-FD48-5897-1F66-B5AD3C43B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1825625"/>
            <a:ext cx="3867150" cy="2752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5B62E-924A-B37D-AE6F-BF20A5E1F98D}"/>
              </a:ext>
            </a:extLst>
          </p:cNvPr>
          <p:cNvSpPr txBox="1"/>
          <p:nvPr/>
        </p:nvSpPr>
        <p:spPr>
          <a:xfrm>
            <a:off x="8216348" y="4643398"/>
            <a:ext cx="3574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Phase field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82470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9479-C46C-F787-2550-C666CEB5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2F3050-E275-AB23-F724-6324DD74B636}"/>
              </a:ext>
            </a:extLst>
          </p:cNvPr>
          <p:cNvSpPr/>
          <p:nvPr/>
        </p:nvSpPr>
        <p:spPr>
          <a:xfrm>
            <a:off x="1325217" y="2425148"/>
            <a:ext cx="2676940" cy="132556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Defining the required phase field variables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715751-CD88-E414-8628-40A8E23E5C7A}"/>
              </a:ext>
            </a:extLst>
          </p:cNvPr>
          <p:cNvSpPr/>
          <p:nvPr/>
        </p:nvSpPr>
        <p:spPr>
          <a:xfrm>
            <a:off x="5168348" y="2425148"/>
            <a:ext cx="2584174" cy="132556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Deriving PDEs representing temporal and spatial evolution of phase field variables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437EF6-CBD1-37DE-C3EA-C64A5B0366EA}"/>
              </a:ext>
            </a:extLst>
          </p:cNvPr>
          <p:cNvSpPr/>
          <p:nvPr/>
        </p:nvSpPr>
        <p:spPr>
          <a:xfrm>
            <a:off x="8918713" y="2517913"/>
            <a:ext cx="2474843" cy="123279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Solving PDEs using numerical methods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5D979B-27E2-B68A-8F04-63702B6977E3}"/>
              </a:ext>
            </a:extLst>
          </p:cNvPr>
          <p:cNvSpPr/>
          <p:nvPr/>
        </p:nvSpPr>
        <p:spPr>
          <a:xfrm>
            <a:off x="8918713" y="4625009"/>
            <a:ext cx="2345635" cy="123279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Visualization of results </a:t>
            </a:r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832F07-7B9A-D2CD-37E1-E31D3A7C9AA9}"/>
              </a:ext>
            </a:extLst>
          </p:cNvPr>
          <p:cNvSpPr/>
          <p:nvPr/>
        </p:nvSpPr>
        <p:spPr>
          <a:xfrm>
            <a:off x="4002157" y="3008243"/>
            <a:ext cx="1166191" cy="198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C460C33-1049-18E4-69B7-FC497653E447}"/>
              </a:ext>
            </a:extLst>
          </p:cNvPr>
          <p:cNvSpPr/>
          <p:nvPr/>
        </p:nvSpPr>
        <p:spPr>
          <a:xfrm>
            <a:off x="7752523" y="3048518"/>
            <a:ext cx="1166190" cy="2186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CEACF57-FF21-87CE-6ADD-7321DB60805D}"/>
              </a:ext>
            </a:extLst>
          </p:cNvPr>
          <p:cNvSpPr/>
          <p:nvPr/>
        </p:nvSpPr>
        <p:spPr>
          <a:xfrm rot="5400000">
            <a:off x="9697450" y="4105034"/>
            <a:ext cx="874298" cy="1656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664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24A6-ACFD-A732-873E-21EC6F9A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B25BA-A879-6702-4710-B4C3352C4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92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Kobayashi Model (1993)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A9D250-047D-C70D-93F4-02FAEBC03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162468"/>
            <a:ext cx="5114925" cy="1885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EF64EB-1CCF-B38F-898D-44F186A5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4432275"/>
            <a:ext cx="5248275" cy="16097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74A2DE-A579-2822-B981-E57F3FC044D0}"/>
              </a:ext>
            </a:extLst>
          </p:cNvPr>
          <p:cNvSpPr txBox="1"/>
          <p:nvPr/>
        </p:nvSpPr>
        <p:spPr>
          <a:xfrm>
            <a:off x="6427304" y="1507463"/>
            <a:ext cx="524827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Kobayashi was the first to model dendritic solidification successfully.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This model was good enough to study the effect of undercooling , latent heat on dendrite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solution of model is not very accurate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This model doesn’t show realistic representation of dendrite. e.g. Ternary branching can not be seen in the simulation.</a:t>
            </a:r>
          </a:p>
        </p:txBody>
      </p:sp>
    </p:spTree>
    <p:extLst>
      <p:ext uri="{BB962C8B-B14F-4D97-AF65-F5344CB8AC3E}">
        <p14:creationId xmlns:p14="http://schemas.microsoft.com/office/powerpoint/2010/main" val="3137463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Kobayashi Model (1993)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3B0CB-C3EC-0443-DF78-A0FE60C9A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35" y="1889870"/>
            <a:ext cx="4294466" cy="3078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12B76-997D-1133-9123-4F9609826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804" y="1816014"/>
            <a:ext cx="3685882" cy="3343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FE8AF1-FC3F-89D9-051C-3CD5AF8EEA76}"/>
              </a:ext>
            </a:extLst>
          </p:cNvPr>
          <p:cNvSpPr txBox="1"/>
          <p:nvPr/>
        </p:nvSpPr>
        <p:spPr>
          <a:xfrm>
            <a:off x="838199" y="4953842"/>
            <a:ext cx="3972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Abdullah et. al. Numerical Simulation of Two-Dimensional Dendritic Growth Using Phase-Field Model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46633-908D-8607-FFF0-FA8C81B95E6A}"/>
              </a:ext>
            </a:extLst>
          </p:cNvPr>
          <p:cNvSpPr txBox="1"/>
          <p:nvPr/>
        </p:nvSpPr>
        <p:spPr>
          <a:xfrm>
            <a:off x="6639804" y="5169286"/>
            <a:ext cx="34716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Ferreira et.al. Simulation of the solidification of pure nickel via the phase-field method. </a:t>
            </a:r>
            <a:endParaRPr lang="pt-BR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381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Kim Model (1999)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F656B-8B96-D951-744A-D3FE4B1E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6833"/>
            <a:ext cx="4514850" cy="437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4E8C7-5E22-3FAD-C97A-E1F954C45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63" y="1616833"/>
            <a:ext cx="4385237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38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Kim Model (1999)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DC046-3752-BA9B-E91B-6B8DFAEAC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87" y="1859647"/>
            <a:ext cx="4042556" cy="36259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A7022-9BC2-1CD9-53E9-2A166AA8F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409" y="2133599"/>
            <a:ext cx="3737162" cy="31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52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BE16-C9C1-3330-4ABF-117ED61D1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29800" cy="421736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400" dirty="0"/>
              <a:t>First phase field model for alloys was developed Wheeler called as WBM model.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Later Warren (1996) and Beckerman (1999) proposed phase field models for binary alloy solidification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Loginova et al. (2001) presented phase field model for non isothermal alloy solidification.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Karma (2001) and Kim (2007) introduced idea of anti trapping current in phase field modelling to include effect of </a:t>
            </a:r>
            <a:r>
              <a:rPr lang="en-US" sz="2400" dirty="0"/>
              <a:t>unequal thermal conductivities,  interface stretching, interface diffusion etc.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/>
          </a:p>
          <a:p>
            <a:pPr>
              <a:lnSpc>
                <a:spcPct val="100000"/>
              </a:lnSpc>
            </a:pPr>
            <a:endParaRPr lang="en-IN" sz="20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442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59D6-34E5-A1E1-659C-39B40A50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BE16-C9C1-3330-4ABF-117ED61D1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29800" cy="421736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400" dirty="0"/>
              <a:t>Most of phase field models are developed for the single component and binary alloy systems only. Less models are available for the simulation of ternary and multicomponent alloys.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Most people have done the simulation for general alloys such as Cu-Ni and Al-Mg. 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The run time for the programs generated for the simulations are seen to be  very high.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IN" sz="2000" dirty="0"/>
          </a:p>
          <a:p>
            <a:pPr>
              <a:lnSpc>
                <a:spcPct val="100000"/>
              </a:lnSpc>
            </a:pPr>
            <a:endParaRPr lang="en-IN" sz="20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>
              <a:lnSpc>
                <a:spcPct val="100000"/>
              </a:lnSpc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0691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7DAC-097B-C2CE-DF0A-D3402FF2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D00C4-AAA2-E151-EC74-D8B3F4C8AC31}"/>
              </a:ext>
            </a:extLst>
          </p:cNvPr>
          <p:cNvSpPr/>
          <p:nvPr/>
        </p:nvSpPr>
        <p:spPr>
          <a:xfrm>
            <a:off x="3816626" y="1378226"/>
            <a:ext cx="2849217" cy="781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To Study the basics of phase field modelling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789300-1F8F-ED0D-41A0-EF913F88B4AD}"/>
              </a:ext>
            </a:extLst>
          </p:cNvPr>
          <p:cNvSpPr/>
          <p:nvPr/>
        </p:nvSpPr>
        <p:spPr>
          <a:xfrm>
            <a:off x="3061252" y="2633870"/>
            <a:ext cx="4585252" cy="781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Simulation of phase field models for pure melt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Kobayashi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Kim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E16E95-DA8D-C0CC-81B5-9B5B456CD827}"/>
              </a:ext>
            </a:extLst>
          </p:cNvPr>
          <p:cNvSpPr/>
          <p:nvPr/>
        </p:nvSpPr>
        <p:spPr>
          <a:xfrm>
            <a:off x="3001617" y="4046473"/>
            <a:ext cx="4704522" cy="788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Simulation of phase field model for binary alloy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90655-775D-0E63-B3E6-D18A2B20FF95}"/>
              </a:ext>
            </a:extLst>
          </p:cNvPr>
          <p:cNvSpPr/>
          <p:nvPr/>
        </p:nvSpPr>
        <p:spPr>
          <a:xfrm>
            <a:off x="2975112" y="5486403"/>
            <a:ext cx="4664765" cy="788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Phase field model for the ternary  alloy especially an aerospace alloy.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CF9FD-4EE8-D834-C3DF-DD3C6629F7C6}"/>
              </a:ext>
            </a:extLst>
          </p:cNvPr>
          <p:cNvSpPr/>
          <p:nvPr/>
        </p:nvSpPr>
        <p:spPr>
          <a:xfrm>
            <a:off x="8627165" y="5507102"/>
            <a:ext cx="2726635" cy="788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 of CALPHAD database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BA9E478-7A74-2ADB-FACA-5353A20FAEB8}"/>
              </a:ext>
            </a:extLst>
          </p:cNvPr>
          <p:cNvSpPr/>
          <p:nvPr/>
        </p:nvSpPr>
        <p:spPr>
          <a:xfrm>
            <a:off x="5075583" y="2160104"/>
            <a:ext cx="238539" cy="4737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A5F3C68-5470-9CE1-2A6A-7A0FD751179F}"/>
              </a:ext>
            </a:extLst>
          </p:cNvPr>
          <p:cNvSpPr/>
          <p:nvPr/>
        </p:nvSpPr>
        <p:spPr>
          <a:xfrm>
            <a:off x="5075582" y="3440592"/>
            <a:ext cx="238539" cy="5851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51B273D-31EA-A457-CD84-A77CCF26DB33}"/>
              </a:ext>
            </a:extLst>
          </p:cNvPr>
          <p:cNvSpPr/>
          <p:nvPr/>
        </p:nvSpPr>
        <p:spPr>
          <a:xfrm>
            <a:off x="5108712" y="4834979"/>
            <a:ext cx="205409" cy="6307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47953B9A-CE2B-8EF8-F251-80BB51432B07}"/>
              </a:ext>
            </a:extLst>
          </p:cNvPr>
          <p:cNvSpPr/>
          <p:nvPr/>
        </p:nvSpPr>
        <p:spPr>
          <a:xfrm>
            <a:off x="7639877" y="5797825"/>
            <a:ext cx="980661" cy="22528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901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99C-786C-7212-5603-440CE0F2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Formulation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99CAB-06FF-FC95-75F8-2A180DA7C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370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sz="4400" dirty="0"/>
              <a:t>ree </a:t>
            </a:r>
            <a:r>
              <a:rPr lang="en-IN" dirty="0"/>
              <a:t>e</a:t>
            </a:r>
            <a:r>
              <a:rPr lang="en-IN" sz="4400" dirty="0"/>
              <a:t>nergy functional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CFDDF-0DEC-8E0B-3941-4B380037F19A}"/>
              </a:ext>
            </a:extLst>
          </p:cNvPr>
          <p:cNvSpPr txBox="1"/>
          <p:nvPr/>
        </p:nvSpPr>
        <p:spPr>
          <a:xfrm>
            <a:off x="438977" y="1607862"/>
            <a:ext cx="11314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driving force for microstructural evolution is the reduction in the free energy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free energy F is expressed as :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AEF6D-D7C3-42B7-DF63-9C323A1E0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780" y="3048104"/>
            <a:ext cx="3856248" cy="632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A80EB5-4554-13AC-9AFA-865F7D24D112}"/>
              </a:ext>
            </a:extLst>
          </p:cNvPr>
          <p:cNvSpPr txBox="1"/>
          <p:nvPr/>
        </p:nvSpPr>
        <p:spPr>
          <a:xfrm>
            <a:off x="569843" y="4081670"/>
            <a:ext cx="110390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 Phase field method the free energy F is expressed as a </a:t>
            </a:r>
            <a:r>
              <a:rPr lang="en-US" sz="2400" dirty="0"/>
              <a:t>functional of the set of phase-field variables and their gradients.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governing equations for phase field modelling are derived from free energy functional.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7202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sz="4400" dirty="0"/>
              <a:t>ree </a:t>
            </a:r>
            <a:r>
              <a:rPr lang="en-IN" dirty="0"/>
              <a:t>e</a:t>
            </a:r>
            <a:r>
              <a:rPr lang="en-IN" sz="4400" dirty="0"/>
              <a:t>nergy functional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CFDDF-0DEC-8E0B-3941-4B380037F19A}"/>
              </a:ext>
            </a:extLst>
          </p:cNvPr>
          <p:cNvSpPr txBox="1"/>
          <p:nvPr/>
        </p:nvSpPr>
        <p:spPr>
          <a:xfrm>
            <a:off x="569843" y="1585464"/>
            <a:ext cx="1131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the case of solidification of the binary alloy free energy functional is given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A80EB5-4554-13AC-9AFA-865F7D24D112}"/>
                  </a:ext>
                </a:extLst>
              </p:cNvPr>
              <p:cNvSpPr txBox="1"/>
              <p:nvPr/>
            </p:nvSpPr>
            <p:spPr>
              <a:xfrm>
                <a:off x="569843" y="4081670"/>
                <a:ext cx="11039061" cy="1233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first term is homogeneous free energy density function.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Later two terms contributes to the interfacial energy.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are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gradient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energy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cooeficients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A80EB5-4554-13AC-9AFA-865F7D24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4081670"/>
                <a:ext cx="11039061" cy="1233223"/>
              </a:xfrm>
              <a:prstGeom prst="rect">
                <a:avLst/>
              </a:prstGeom>
              <a:blipFill>
                <a:blip r:embed="rId2"/>
                <a:stretch>
                  <a:fillRect l="-718" t="-3960" b="-64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3D79DEE-3F23-EFD1-0038-AF5F426C2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569460"/>
            <a:ext cx="5602357" cy="9804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7DFE1C-4F24-70BD-A77E-71A7B4448265}"/>
              </a:ext>
            </a:extLst>
          </p:cNvPr>
          <p:cNvSpPr txBox="1"/>
          <p:nvPr/>
        </p:nvSpPr>
        <p:spPr>
          <a:xfrm>
            <a:off x="8269357" y="3244334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76352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sz="4400" dirty="0"/>
              <a:t>ree </a:t>
            </a:r>
            <a:r>
              <a:rPr lang="en-IN" dirty="0"/>
              <a:t>e</a:t>
            </a:r>
            <a:r>
              <a:rPr lang="en-IN" sz="4400" dirty="0"/>
              <a:t>nergy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BCFDDF-0DEC-8E0B-3941-4B380037F19A}"/>
                  </a:ext>
                </a:extLst>
              </p:cNvPr>
              <p:cNvSpPr txBox="1"/>
              <p:nvPr/>
            </p:nvSpPr>
            <p:spPr>
              <a:xfrm>
                <a:off x="569843" y="1585464"/>
                <a:ext cx="113140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Homogeneous free energy  density function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BCFDDF-0DEC-8E0B-3941-4B380037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585464"/>
                <a:ext cx="11314045" cy="461665"/>
              </a:xfrm>
              <a:prstGeom prst="rect">
                <a:avLst/>
              </a:prstGeom>
              <a:blipFill>
                <a:blip r:embed="rId2"/>
                <a:stretch>
                  <a:fillRect l="-808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1BED274-08C2-783A-90F4-0EF162BC9CFE}"/>
              </a:ext>
            </a:extLst>
          </p:cNvPr>
          <p:cNvSpPr txBox="1"/>
          <p:nvPr/>
        </p:nvSpPr>
        <p:spPr>
          <a:xfrm>
            <a:off x="728870" y="2292626"/>
            <a:ext cx="10482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Single component system containing pure element 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00AEE6-F35C-F5DE-3524-A91B477A2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982" y="2830873"/>
            <a:ext cx="5924035" cy="5715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EDF649-5619-EB67-DC56-4370621B8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247" y="3527505"/>
            <a:ext cx="2706784" cy="24458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641690-7B23-4E9E-43AA-E3108C361B5E}"/>
              </a:ext>
            </a:extLst>
          </p:cNvPr>
          <p:cNvSpPr txBox="1"/>
          <p:nvPr/>
        </p:nvSpPr>
        <p:spPr>
          <a:xfrm>
            <a:off x="1268247" y="5973395"/>
            <a:ext cx="4602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Double well function </a:t>
            </a:r>
          </a:p>
          <a:p>
            <a:r>
              <a:rPr lang="en-IN" sz="2000" dirty="0"/>
              <a:t>Adds energy barrier between two phases.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AC5413-B923-5E21-AB14-B6F331CAB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9616" y="3503706"/>
            <a:ext cx="2558912" cy="25042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B29751-6332-638F-6A88-E86C353BFEBE}"/>
              </a:ext>
            </a:extLst>
          </p:cNvPr>
          <p:cNvSpPr txBox="1"/>
          <p:nvPr/>
        </p:nvSpPr>
        <p:spPr>
          <a:xfrm>
            <a:off x="6302649" y="5973395"/>
            <a:ext cx="2755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Interpolating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6DC22A-E24B-26F6-C474-C0B670903A48}"/>
              </a:ext>
            </a:extLst>
          </p:cNvPr>
          <p:cNvSpPr txBox="1"/>
          <p:nvPr/>
        </p:nvSpPr>
        <p:spPr>
          <a:xfrm>
            <a:off x="9058016" y="3158173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81456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sz="4400" dirty="0"/>
              <a:t>ree </a:t>
            </a:r>
            <a:r>
              <a:rPr lang="en-IN" dirty="0"/>
              <a:t>e</a:t>
            </a:r>
            <a:r>
              <a:rPr lang="en-IN" sz="4400" dirty="0"/>
              <a:t>nergy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BCFDDF-0DEC-8E0B-3941-4B380037F19A}"/>
                  </a:ext>
                </a:extLst>
              </p:cNvPr>
              <p:cNvSpPr txBox="1"/>
              <p:nvPr/>
            </p:nvSpPr>
            <p:spPr>
              <a:xfrm>
                <a:off x="569843" y="1585464"/>
                <a:ext cx="113140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Homogeneous free energy  density function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BCFDDF-0DEC-8E0B-3941-4B380037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585464"/>
                <a:ext cx="11314045" cy="461665"/>
              </a:xfrm>
              <a:prstGeom prst="rect">
                <a:avLst/>
              </a:prstGeom>
              <a:blipFill>
                <a:blip r:embed="rId2"/>
                <a:stretch>
                  <a:fillRect l="-808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1BED274-08C2-783A-90F4-0EF162BC9CFE}"/>
              </a:ext>
            </a:extLst>
          </p:cNvPr>
          <p:cNvSpPr txBox="1"/>
          <p:nvPr/>
        </p:nvSpPr>
        <p:spPr>
          <a:xfrm>
            <a:off x="728870" y="2292626"/>
            <a:ext cx="10482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Single component system containing pure element 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00AEE6-F35C-F5DE-3524-A91B477A2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65" y="2942656"/>
            <a:ext cx="5924035" cy="571521"/>
          </a:xfrm>
          <a:prstGeom prst="rect">
            <a:avLst/>
          </a:prstGeom>
          <a:ln w="19050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6CB7CF-EF35-0AD3-1BB3-7126EEF01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179" y="2964160"/>
            <a:ext cx="4616709" cy="530379"/>
          </a:xfrm>
          <a:prstGeom prst="rect">
            <a:avLst/>
          </a:prstGeom>
          <a:ln w="190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9B9527-D190-485B-ED97-19B560817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870" y="3943142"/>
            <a:ext cx="3152775" cy="117157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5910273-85BE-CD37-7A1A-A51C3D81E518}"/>
              </a:ext>
            </a:extLst>
          </p:cNvPr>
          <p:cNvSpPr/>
          <p:nvPr/>
        </p:nvSpPr>
        <p:spPr>
          <a:xfrm>
            <a:off x="6161432" y="3104049"/>
            <a:ext cx="1040314" cy="200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117454-4EA4-B0D9-CDF1-872E4C7031DF}"/>
                  </a:ext>
                </a:extLst>
              </p:cNvPr>
              <p:cNvSpPr txBox="1"/>
              <p:nvPr/>
            </p:nvSpPr>
            <p:spPr>
              <a:xfrm>
                <a:off x="728870" y="5300870"/>
                <a:ext cx="3776869" cy="77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/>
                  <a:t>L : Latent heat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r>
                          <a:rPr lang="en-IN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IN" sz="2200" dirty="0"/>
                  <a:t> : Melting Temperature of A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117454-4EA4-B0D9-CDF1-872E4C703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0" y="5300870"/>
                <a:ext cx="3776869" cy="776175"/>
              </a:xfrm>
              <a:prstGeom prst="rect">
                <a:avLst/>
              </a:prstGeom>
              <a:blipFill>
                <a:blip r:embed="rId6"/>
                <a:stretch>
                  <a:fillRect l="-2100" t="-5512" b="-14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49EC4CA9-1A1A-E459-E5F0-0AD908ABD1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367" y="4381840"/>
            <a:ext cx="4547237" cy="89069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3A16E8-E054-6ED4-A72B-42DA84A8F4EE}"/>
              </a:ext>
            </a:extLst>
          </p:cNvPr>
          <p:cNvSpPr txBox="1"/>
          <p:nvPr/>
        </p:nvSpPr>
        <p:spPr>
          <a:xfrm>
            <a:off x="11582608" y="3568857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254554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</a:t>
            </a:r>
            <a:r>
              <a:rPr lang="en-IN" sz="4400" dirty="0"/>
              <a:t>ree </a:t>
            </a:r>
            <a:r>
              <a:rPr lang="en-IN" dirty="0"/>
              <a:t>e</a:t>
            </a:r>
            <a:r>
              <a:rPr lang="en-IN" sz="4400" dirty="0"/>
              <a:t>nergy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BCFDDF-0DEC-8E0B-3941-4B380037F19A}"/>
                  </a:ext>
                </a:extLst>
              </p:cNvPr>
              <p:cNvSpPr txBox="1"/>
              <p:nvPr/>
            </p:nvSpPr>
            <p:spPr>
              <a:xfrm>
                <a:off x="569843" y="1585464"/>
                <a:ext cx="113140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Homogeneous free energy  density function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BCFDDF-0DEC-8E0B-3941-4B380037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3" y="1585464"/>
                <a:ext cx="11314045" cy="461665"/>
              </a:xfrm>
              <a:prstGeom prst="rect">
                <a:avLst/>
              </a:prstGeom>
              <a:blipFill>
                <a:blip r:embed="rId2"/>
                <a:stretch>
                  <a:fillRect l="-808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1BED274-08C2-783A-90F4-0EF162BC9CFE}"/>
              </a:ext>
            </a:extLst>
          </p:cNvPr>
          <p:cNvSpPr txBox="1"/>
          <p:nvPr/>
        </p:nvSpPr>
        <p:spPr>
          <a:xfrm>
            <a:off x="728870" y="2292626"/>
            <a:ext cx="10482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Binary alloy system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4B353-D6D4-D2A2-AA08-D02D2441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191" y="3046978"/>
            <a:ext cx="8241630" cy="75057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307ED3-D894-1366-E1D1-4B591F0C123F}"/>
              </a:ext>
            </a:extLst>
          </p:cNvPr>
          <p:cNvSpPr txBox="1"/>
          <p:nvPr/>
        </p:nvSpPr>
        <p:spPr>
          <a:xfrm>
            <a:off x="728870" y="4103710"/>
            <a:ext cx="106249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CALPHAD (</a:t>
            </a:r>
            <a:r>
              <a:rPr lang="en-US" sz="2400" dirty="0" err="1"/>
              <a:t>CALculation</a:t>
            </a:r>
            <a:r>
              <a:rPr lang="en-US" sz="2400" dirty="0"/>
              <a:t> of </a:t>
            </a:r>
            <a:r>
              <a:rPr lang="en-US" sz="2400" dirty="0" err="1"/>
              <a:t>PHAse</a:t>
            </a:r>
            <a:r>
              <a:rPr lang="en-US" sz="2400" dirty="0"/>
              <a:t> Diagrams)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27BE7C-89D8-9047-3933-394C7CD42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247" y="4671647"/>
            <a:ext cx="7814305" cy="82800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9A07C3-AB3A-BF3C-7729-093D0EFA3EA9}"/>
                  </a:ext>
                </a:extLst>
              </p:cNvPr>
              <p:cNvSpPr txBox="1"/>
              <p:nvPr/>
            </p:nvSpPr>
            <p:spPr>
              <a:xfrm>
                <a:off x="838200" y="5499653"/>
                <a:ext cx="9657522" cy="832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The free energy of solid and liquid phase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p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   </m:t>
                    </m:r>
                  </m:oMath>
                </a14:m>
                <a:r>
                  <a:rPr lang="en-IN" sz="2400" dirty="0"/>
                  <a:t>can be obtained CALPHAD database.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9A07C3-AB3A-BF3C-7729-093D0EFA3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99653"/>
                <a:ext cx="9657522" cy="832216"/>
              </a:xfrm>
              <a:prstGeom prst="rect">
                <a:avLst/>
              </a:prstGeom>
              <a:blipFill>
                <a:blip r:embed="rId5"/>
                <a:stretch>
                  <a:fillRect l="-1010" t="-5839" b="-153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020450-60AB-9AF9-D0D8-B24274151956}"/>
              </a:ext>
            </a:extLst>
          </p:cNvPr>
          <p:cNvSpPr txBox="1"/>
          <p:nvPr/>
        </p:nvSpPr>
        <p:spPr>
          <a:xfrm>
            <a:off x="9788821" y="3429000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F9F8C-A7F9-FCEE-A602-82CAFA6494B2}"/>
              </a:ext>
            </a:extLst>
          </p:cNvPr>
          <p:cNvSpPr txBox="1"/>
          <p:nvPr/>
        </p:nvSpPr>
        <p:spPr>
          <a:xfrm>
            <a:off x="9685552" y="5197534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345764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Governing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1BBCCD-B048-1CF0-5239-50E25CEF9112}"/>
                  </a:ext>
                </a:extLst>
              </p:cNvPr>
              <p:cNvSpPr txBox="1"/>
              <p:nvPr/>
            </p:nvSpPr>
            <p:spPr>
              <a:xfrm>
                <a:off x="618978" y="1828800"/>
                <a:ext cx="11141613" cy="529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Cahn Hilliard Equation</a:t>
                </a:r>
              </a:p>
              <a:p>
                <a:pPr lvl="1"/>
                <a:endParaRPr lang="en-IN" sz="2800" dirty="0"/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The temporal evolution of conserved variables is expressed by a PDE.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den>
                    </m:f>
                  </m:oMath>
                </a14:m>
                <a:r>
                  <a:rPr lang="en-IN" sz="2800" dirty="0"/>
                  <a:t>   (Chemical Potential)</a:t>
                </a:r>
              </a:p>
              <a:p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1BBCCD-B048-1CF0-5239-50E25CEF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" y="1828800"/>
                <a:ext cx="11141613" cy="5298758"/>
              </a:xfrm>
              <a:prstGeom prst="rect">
                <a:avLst/>
              </a:prstGeom>
              <a:blipFill>
                <a:blip r:embed="rId2"/>
                <a:stretch>
                  <a:fillRect t="-10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BDAAC1-CE37-8596-B646-5821A8FC8167}"/>
                  </a:ext>
                </a:extLst>
              </p:cNvPr>
              <p:cNvSpPr txBox="1"/>
              <p:nvPr/>
            </p:nvSpPr>
            <p:spPr>
              <a:xfrm>
                <a:off x="3743739" y="3788435"/>
                <a:ext cx="2935357" cy="7022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.(</m:t>
                      </m:r>
                      <m:sSub>
                        <m:sSub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BDAAC1-CE37-8596-B646-5821A8FC8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739" y="3788435"/>
                <a:ext cx="2935357" cy="702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E19B44F-92D4-4DD4-AC91-BF95669C0449}"/>
              </a:ext>
            </a:extLst>
          </p:cNvPr>
          <p:cNvSpPr txBox="1"/>
          <p:nvPr/>
        </p:nvSpPr>
        <p:spPr>
          <a:xfrm>
            <a:off x="6679096" y="4139557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571295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Governing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1BBCCD-B048-1CF0-5239-50E25CEF9112}"/>
                  </a:ext>
                </a:extLst>
              </p:cNvPr>
              <p:cNvSpPr txBox="1"/>
              <p:nvPr/>
            </p:nvSpPr>
            <p:spPr>
              <a:xfrm>
                <a:off x="618978" y="1828800"/>
                <a:ext cx="11141613" cy="4716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Allen Cahn Equation</a:t>
                </a:r>
              </a:p>
              <a:p>
                <a:pPr lvl="1"/>
                <a:endParaRPr lang="en-IN" sz="2800" dirty="0"/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The temporal evolution of Non - conserved variables is expressed by Allen Cahn equation.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/>
                  <a:t> is phase field mobility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1BBCCD-B048-1CF0-5239-50E25CEF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" y="1828800"/>
                <a:ext cx="11141613" cy="4716612"/>
              </a:xfrm>
              <a:prstGeom prst="rect">
                <a:avLst/>
              </a:prstGeom>
              <a:blipFill>
                <a:blip r:embed="rId2"/>
                <a:stretch>
                  <a:fillRect t="-1163" r="-1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BDAAC1-CE37-8596-B646-5821A8FC8167}"/>
                  </a:ext>
                </a:extLst>
              </p:cNvPr>
              <p:cNvSpPr txBox="1"/>
              <p:nvPr/>
            </p:nvSpPr>
            <p:spPr>
              <a:xfrm>
                <a:off x="3743739" y="3788435"/>
                <a:ext cx="2935357" cy="76450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f>
                        <m:fPr>
                          <m:ctrlP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𝑑𝐹</m:t>
                          </m:r>
                        </m:num>
                        <m:den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BDAAC1-CE37-8596-B646-5821A8FC8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739" y="3788435"/>
                <a:ext cx="2935357" cy="764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D1A3E5-0D58-6174-A4AC-F9678582FB0E}"/>
              </a:ext>
            </a:extLst>
          </p:cNvPr>
          <p:cNvSpPr txBox="1"/>
          <p:nvPr/>
        </p:nvSpPr>
        <p:spPr>
          <a:xfrm>
            <a:off x="6679096" y="4187106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[4]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BC309-DA56-201A-59C4-17E959547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996" y="5137699"/>
            <a:ext cx="2371493" cy="9840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28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806-4286-037B-84CA-420E47E4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Governing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1BBCCD-B048-1CF0-5239-50E25CEF9112}"/>
                  </a:ext>
                </a:extLst>
              </p:cNvPr>
              <p:cNvSpPr txBox="1"/>
              <p:nvPr/>
            </p:nvSpPr>
            <p:spPr>
              <a:xfrm>
                <a:off x="618978" y="1828800"/>
                <a:ext cx="11141613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Thermal Diffusion Equation</a:t>
                </a:r>
              </a:p>
              <a:p>
                <a:pPr lvl="1"/>
                <a:endParaRPr lang="en-IN" sz="2800" dirty="0"/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The temporal evolution of temperature field is expressed as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:r>
                  <a:rPr lang="en-IN" sz="2800" dirty="0"/>
                  <a:t>D : Thermal Diffusivity</a:t>
                </a:r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IN" sz="2800" dirty="0"/>
                  <a:t> : Latent Heat</a:t>
                </a:r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N" sz="2800" dirty="0"/>
                  <a:t> : Heat capacity</a:t>
                </a:r>
              </a:p>
              <a:p>
                <a:pPr marL="1371600" lvl="2" indent="-457200">
                  <a:buFont typeface="Courier New" panose="02070309020205020404" pitchFamily="49" charset="0"/>
                  <a:buChar char="o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1BBCCD-B048-1CF0-5239-50E25CEF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" y="1828800"/>
                <a:ext cx="11141613" cy="5539978"/>
              </a:xfrm>
              <a:prstGeom prst="rect">
                <a:avLst/>
              </a:prstGeom>
              <a:blipFill>
                <a:blip r:embed="rId2"/>
                <a:stretch>
                  <a:fillRect t="-9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BDAAC1-CE37-8596-B646-5821A8FC8167}"/>
                  </a:ext>
                </a:extLst>
              </p:cNvPr>
              <p:cNvSpPr txBox="1"/>
              <p:nvPr/>
            </p:nvSpPr>
            <p:spPr>
              <a:xfrm>
                <a:off x="3518452" y="3576400"/>
                <a:ext cx="4750904" cy="83657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BDAAC1-CE37-8596-B646-5821A8FC8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452" y="3576400"/>
                <a:ext cx="4750904" cy="836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84B9D42-51E7-C820-7CD5-D9B7948FEBB1}"/>
              </a:ext>
            </a:extLst>
          </p:cNvPr>
          <p:cNvSpPr txBox="1"/>
          <p:nvPr/>
        </p:nvSpPr>
        <p:spPr>
          <a:xfrm>
            <a:off x="8269356" y="4043642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1057512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1EBF-20BD-0F60-1503-00739E45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492DA-C933-3586-FE62-5B2630039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59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6679-604F-1EB4-16A7-2845BCB4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Implantation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E1490-BEEC-2998-8A60-2D809B5F02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Explicit Finite difference method was used to solve the PDEs.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dirty="0"/>
                  <a:t>Laplacian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IN" dirty="0"/>
                  <a:t> are calculated using 9 point stencil method.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E1490-BEEC-2998-8A60-2D809B5F0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E5CA20C-6390-8506-A20E-D0192F4F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047" y="3429000"/>
            <a:ext cx="3181350" cy="2438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3AF43A-49E2-1AC7-D67A-C37FEBF33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1" y="4001294"/>
            <a:ext cx="5743082" cy="115380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CE74FB-B03C-D432-8667-EE2C9E753A47}"/>
              </a:ext>
            </a:extLst>
          </p:cNvPr>
          <p:cNvSpPr txBox="1"/>
          <p:nvPr/>
        </p:nvSpPr>
        <p:spPr>
          <a:xfrm>
            <a:off x="7079767" y="4920701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404922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6679-604F-1EB4-16A7-2845BCB4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Implantation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E1490-BEEC-2998-8A60-2D809B5F02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Gradients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IN" dirty="0"/>
                  <a:t> are calculated using central difference method.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lang="en-IN" dirty="0"/>
                  <a:t>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E1490-BEEC-2998-8A60-2D809B5F0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501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604B-E4AD-C3EC-2825-7C5E2660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17298-7E02-7591-7C33-E1310B4A6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203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0507-4FFB-5278-4EB7-1CEABA40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of Kobayashi Model(1993)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985C-1ABA-E5B3-4FB2-DC85D8064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284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Kobayashi presented phase field model for solidification of pure melt .</a:t>
            </a:r>
          </a:p>
          <a:p>
            <a:pPr>
              <a:lnSpc>
                <a:spcPct val="150000"/>
              </a:lnSpc>
            </a:pPr>
            <a:r>
              <a:rPr lang="en-IN" dirty="0"/>
              <a:t>The model verification is done here.</a:t>
            </a:r>
          </a:p>
          <a:p>
            <a:pPr>
              <a:lnSpc>
                <a:spcPct val="150000"/>
              </a:lnSpc>
            </a:pPr>
            <a:r>
              <a:rPr lang="en-IN" dirty="0"/>
              <a:t>According to Kobayashi model free energy functional is given as: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B2687-B504-84B7-AFA2-50D51DA0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681" y="4555435"/>
            <a:ext cx="4303404" cy="9839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8CE51A-51A6-4043-6B45-5789E655A829}"/>
              </a:ext>
            </a:extLst>
          </p:cNvPr>
          <p:cNvSpPr txBox="1"/>
          <p:nvPr/>
        </p:nvSpPr>
        <p:spPr>
          <a:xfrm>
            <a:off x="7425085" y="5308017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3034925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80507-4FFB-5278-4EB7-1CEABA40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of Kobayashi Model(1993)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985C-1ABA-E5B3-4FB2-DC85D8064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284"/>
            <a:ext cx="10515600" cy="4351338"/>
          </a:xfrm>
        </p:spPr>
        <p:txBody>
          <a:bodyPr/>
          <a:lstStyle/>
          <a:p>
            <a:r>
              <a:rPr lang="en-IN" dirty="0"/>
              <a:t>Homogeneous free energy density function given as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589F6-A7BA-2104-36D9-2150025176F6}"/>
              </a:ext>
            </a:extLst>
          </p:cNvPr>
          <p:cNvSpPr txBox="1"/>
          <p:nvPr/>
        </p:nvSpPr>
        <p:spPr>
          <a:xfrm>
            <a:off x="838200" y="4068646"/>
            <a:ext cx="6901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(m) </a:t>
            </a:r>
            <a:r>
              <a:rPr lang="en-IN" sz="2400" dirty="0"/>
              <a:t>is parameter which depends on temperature.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FABBF4-311B-D05E-2D3C-6637FB2C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596" y="4814364"/>
            <a:ext cx="3430450" cy="63604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2F5611-77BB-3954-E2D2-B067FCA0B40A}"/>
                  </a:ext>
                </a:extLst>
              </p:cNvPr>
              <p:cNvSpPr txBox="1"/>
              <p:nvPr/>
            </p:nvSpPr>
            <p:spPr>
              <a:xfrm>
                <a:off x="951255" y="5734458"/>
                <a:ext cx="5433391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material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constants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endParaRPr lang="en-IN" sz="2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2F5611-77BB-3954-E2D2-B067FCA0B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55" y="5734458"/>
                <a:ext cx="5433391" cy="1107996"/>
              </a:xfrm>
              <a:prstGeom prst="rect">
                <a:avLst/>
              </a:prstGeom>
              <a:blipFill>
                <a:blip r:embed="rId3"/>
                <a:stretch>
                  <a:fillRect l="-1459" t="-16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08AD43F-53A8-8005-D809-EFB4F095B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237" y="2775196"/>
            <a:ext cx="4581525" cy="7239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F00C8C-65EF-A93C-233E-92D3C4897107}"/>
              </a:ext>
            </a:extLst>
          </p:cNvPr>
          <p:cNvSpPr txBox="1"/>
          <p:nvPr/>
        </p:nvSpPr>
        <p:spPr>
          <a:xfrm>
            <a:off x="8386762" y="3244334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[5]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5676F-C14E-E2EE-3AAF-1E71121800E1}"/>
              </a:ext>
            </a:extLst>
          </p:cNvPr>
          <p:cNvSpPr txBox="1"/>
          <p:nvPr/>
        </p:nvSpPr>
        <p:spPr>
          <a:xfrm>
            <a:off x="7299046" y="5132384"/>
            <a:ext cx="602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21353947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F026-5180-8E8C-AF48-DDD7058C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of Kobayashi Model(1993)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D9749-E897-31FC-E174-73DDF62B3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61949"/>
            <a:ext cx="1609725" cy="8286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00AE3-1082-198D-0DD9-0F3A6E1DD0AE}"/>
              </a:ext>
            </a:extLst>
          </p:cNvPr>
          <p:cNvSpPr txBox="1"/>
          <p:nvPr/>
        </p:nvSpPr>
        <p:spPr>
          <a:xfrm>
            <a:off x="998806" y="1899138"/>
            <a:ext cx="96645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Time evolution of phase field parameter is given by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07236C9-4595-7863-7703-76BFF55FAB52}"/>
              </a:ext>
            </a:extLst>
          </p:cNvPr>
          <p:cNvSpPr/>
          <p:nvPr/>
        </p:nvSpPr>
        <p:spPr>
          <a:xfrm>
            <a:off x="2588455" y="2883877"/>
            <a:ext cx="1420837" cy="2532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D150DA-D62E-B009-934A-FCA6751B9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72" y="2686050"/>
            <a:ext cx="7610475" cy="7429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65728A-0A58-D193-3CFF-BEF740E938B3}"/>
              </a:ext>
            </a:extLst>
          </p:cNvPr>
          <p:cNvSpPr txBox="1"/>
          <p:nvPr/>
        </p:nvSpPr>
        <p:spPr>
          <a:xfrm>
            <a:off x="998806" y="3763618"/>
            <a:ext cx="7813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Non dimensional thermal diffusion equation is given as</a:t>
            </a: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60818C-433A-9DCD-59FB-29324E69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597" y="4581656"/>
            <a:ext cx="2636655" cy="8709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306C90-94DD-1098-D0D6-C742D6E8C313}"/>
              </a:ext>
            </a:extLst>
          </p:cNvPr>
          <p:cNvSpPr txBox="1"/>
          <p:nvPr/>
        </p:nvSpPr>
        <p:spPr>
          <a:xfrm>
            <a:off x="4009292" y="4361205"/>
            <a:ext cx="7344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K is non dimensional constant represents latent heat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T=1 at melting point and T=0 at initial undercooled temperature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470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0991-2A5E-B331-C50D-59FA1B64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of Kobayashi Model(1993)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3B9E-64B7-38DC-D0BC-0AB641759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Non dimensional parameters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532438C-5710-3DD9-F747-534215CAA5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207049"/>
                  </p:ext>
                </p:extLst>
              </p:nvPr>
            </p:nvGraphicFramePr>
            <p:xfrm>
              <a:off x="838200" y="2614727"/>
              <a:ext cx="3230218" cy="3291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5109">
                      <a:extLst>
                        <a:ext uri="{9D8B030D-6E8A-4147-A177-3AD203B41FA5}">
                          <a16:colId xmlns:a16="http://schemas.microsoft.com/office/drawing/2014/main" val="901117104"/>
                        </a:ext>
                      </a:extLst>
                    </a:gridCol>
                    <a:gridCol w="1615109">
                      <a:extLst>
                        <a:ext uri="{9D8B030D-6E8A-4147-A177-3AD203B41FA5}">
                          <a16:colId xmlns:a16="http://schemas.microsoft.com/office/drawing/2014/main" val="2278342105"/>
                        </a:ext>
                      </a:extLst>
                    </a:gridCol>
                  </a:tblGrid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223118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533055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7076053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9129012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3236432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2610382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811889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3e-2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6088525"/>
                      </a:ext>
                    </a:extLst>
                  </a:tr>
                  <a:tr h="27792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1e-4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42610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532438C-5710-3DD9-F747-534215CAA5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7207049"/>
                  </p:ext>
                </p:extLst>
              </p:nvPr>
            </p:nvGraphicFramePr>
            <p:xfrm>
              <a:off x="838200" y="2614727"/>
              <a:ext cx="3230218" cy="3291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5109">
                      <a:extLst>
                        <a:ext uri="{9D8B030D-6E8A-4147-A177-3AD203B41FA5}">
                          <a16:colId xmlns:a16="http://schemas.microsoft.com/office/drawing/2014/main" val="901117104"/>
                        </a:ext>
                      </a:extLst>
                    </a:gridCol>
                    <a:gridCol w="1615109">
                      <a:extLst>
                        <a:ext uri="{9D8B030D-6E8A-4147-A177-3AD203B41FA5}">
                          <a16:colId xmlns:a16="http://schemas.microsoft.com/office/drawing/2014/main" val="22783421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8333" r="-100376" b="-8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22311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108333" r="-100376" b="-7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95330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208333" r="-100376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70760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308333" r="-100376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0.02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91290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401639" r="-100376" b="-4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32364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510000" r="-100376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26103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610000" r="-100376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8118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710000" r="-10037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3e-2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608852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6" t="-810000" r="-10037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1e-4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42610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25061C-BF45-461C-D9EE-F5996BECFDE0}"/>
                  </a:ext>
                </a:extLst>
              </p:cNvPr>
              <p:cNvSpPr txBox="1"/>
              <p:nvPr/>
            </p:nvSpPr>
            <p:spPr>
              <a:xfrm>
                <a:off x="4757530" y="2614727"/>
                <a:ext cx="6414053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For simulation initial undercooling temperature is taken as 0 and equilibrium temperature or melting temperature as 1</a:t>
                </a:r>
                <a:r>
                  <a:rPr lang="en-I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A square domain of 300 X 300 grid points is considered.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Initially whole domain is undercooled to temperature 0.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A nucleus of 5 grid units is introduced. The value of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will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that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nucleus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25061C-BF45-461C-D9EE-F5996BECF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530" y="2614727"/>
                <a:ext cx="6414053" cy="3416320"/>
              </a:xfrm>
              <a:prstGeom prst="rect">
                <a:avLst/>
              </a:prstGeom>
              <a:blipFill>
                <a:blip r:embed="rId3"/>
                <a:stretch>
                  <a:fillRect l="-1235" t="-1429" r="-1045" b="-3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076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51BB-9EEB-9F16-4963-780737A1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pic>
        <p:nvPicPr>
          <p:cNvPr id="5" name="Content Placeholder 4" descr="Shape&#10;&#10;Description automatically generated">
            <a:extLst>
              <a:ext uri="{FF2B5EF4-FFF2-40B4-BE49-F238E27FC236}">
                <a16:creationId xmlns:a16="http://schemas.microsoft.com/office/drawing/2014/main" id="{FBF4D808-CC70-7030-4E09-212CF0B93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726"/>
            <a:ext cx="4572000" cy="3743325"/>
          </a:xfrm>
        </p:spPr>
      </p:pic>
      <p:pic>
        <p:nvPicPr>
          <p:cNvPr id="7" name="Picture 6" descr="A picture containing logo&#10;&#10;Description automatically generated">
            <a:extLst>
              <a:ext uri="{FF2B5EF4-FFF2-40B4-BE49-F238E27FC236}">
                <a16:creationId xmlns:a16="http://schemas.microsoft.com/office/drawing/2014/main" id="{6B6E078B-AE52-A4A0-A02D-1C683F537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188726"/>
            <a:ext cx="4572000" cy="3743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FC9877-DE89-CFAB-2856-1D06F29AC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05070"/>
            <a:ext cx="2724664" cy="2640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0B561-9284-9770-D314-6C03839CCE51}"/>
              </a:ext>
            </a:extLst>
          </p:cNvPr>
          <p:cNvSpPr txBox="1"/>
          <p:nvPr/>
        </p:nvSpPr>
        <p:spPr>
          <a:xfrm>
            <a:off x="8609428" y="6330462"/>
            <a:ext cx="272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Kobayashi (1993)</a:t>
            </a:r>
            <a:endParaRPr lang="en-IN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8754131-6CBE-0F46-2CC8-D2A0DB0A5377}"/>
              </a:ext>
            </a:extLst>
          </p:cNvPr>
          <p:cNvSpPr/>
          <p:nvPr/>
        </p:nvSpPr>
        <p:spPr>
          <a:xfrm>
            <a:off x="4186897" y="2800168"/>
            <a:ext cx="1608406" cy="295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024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3FE8-C973-B04A-F34F-1F4EAD0F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pic>
        <p:nvPicPr>
          <p:cNvPr id="5" name="Content Placeholder 4" descr="A picture containing logo&#10;&#10;Description automatically generated">
            <a:extLst>
              <a:ext uri="{FF2B5EF4-FFF2-40B4-BE49-F238E27FC236}">
                <a16:creationId xmlns:a16="http://schemas.microsoft.com/office/drawing/2014/main" id="{9033094E-BD2A-4893-D02B-7C5A5376C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865" y="1440394"/>
            <a:ext cx="3730487" cy="3054336"/>
          </a:xfrm>
        </p:spPr>
      </p:pic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E6546D67-4FA1-ECC6-AAEB-EE87F038A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470" y="3750428"/>
            <a:ext cx="3601278" cy="2948546"/>
          </a:xfrm>
          <a:prstGeom prst="rect">
            <a:avLst/>
          </a:prstGeom>
        </p:spPr>
      </p:pic>
      <p:pic>
        <p:nvPicPr>
          <p:cNvPr id="3" name="Content Placeholder 4" descr="Shape&#10;&#10;Description automatically generated">
            <a:extLst>
              <a:ext uri="{FF2B5EF4-FFF2-40B4-BE49-F238E27FC236}">
                <a16:creationId xmlns:a16="http://schemas.microsoft.com/office/drawing/2014/main" id="{6CAE4808-64AD-3842-47DE-4141F89A7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06" y="2026476"/>
            <a:ext cx="4572000" cy="374332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C6D56A3-ADB6-35C3-95F0-0C3447A513FF}"/>
              </a:ext>
            </a:extLst>
          </p:cNvPr>
          <p:cNvSpPr/>
          <p:nvPr/>
        </p:nvSpPr>
        <p:spPr>
          <a:xfrm>
            <a:off x="5508011" y="3602717"/>
            <a:ext cx="1608406" cy="295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917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7130-7056-C9AB-FC70-D83B85E4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pic>
        <p:nvPicPr>
          <p:cNvPr id="9" name="Content Placeholder 8" descr="Shape, square&#10;&#10;Description automatically generated">
            <a:extLst>
              <a:ext uri="{FF2B5EF4-FFF2-40B4-BE49-F238E27FC236}">
                <a16:creationId xmlns:a16="http://schemas.microsoft.com/office/drawing/2014/main" id="{CBDBF174-1D04-730B-8E91-0D95B5033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21" y="1806075"/>
            <a:ext cx="4572000" cy="3743325"/>
          </a:xfr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D2296671-E128-F9EF-EBAD-CC5FED9FE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393" y="1806075"/>
            <a:ext cx="4735601" cy="387727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2B17B070-870D-11FB-F95A-217BB20AA14F}"/>
              </a:ext>
            </a:extLst>
          </p:cNvPr>
          <p:cNvSpPr/>
          <p:nvPr/>
        </p:nvSpPr>
        <p:spPr>
          <a:xfrm>
            <a:off x="4487594" y="3291840"/>
            <a:ext cx="1608406" cy="295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22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8AE4-4BD0-35D8-9403-CA9364BF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pic>
        <p:nvPicPr>
          <p:cNvPr id="5" name="Content Placeholder 4" descr="Shape&#10;&#10;Description automatically generated">
            <a:extLst>
              <a:ext uri="{FF2B5EF4-FFF2-40B4-BE49-F238E27FC236}">
                <a16:creationId xmlns:a16="http://schemas.microsoft.com/office/drawing/2014/main" id="{0A2FD826-EB40-8968-DD0A-D21676B13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7" y="1997109"/>
            <a:ext cx="4572000" cy="3743325"/>
          </a:xfr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A9196F8F-E43F-6C67-8EBC-2FD31D6F25C3}"/>
              </a:ext>
            </a:extLst>
          </p:cNvPr>
          <p:cNvSpPr/>
          <p:nvPr/>
        </p:nvSpPr>
        <p:spPr>
          <a:xfrm>
            <a:off x="4537699" y="3649549"/>
            <a:ext cx="1608406" cy="295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11E9A18B-6BE5-0899-7C76-DFFBC7D61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156" y="1924805"/>
            <a:ext cx="4747592" cy="38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701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9848-7B98-2280-63D4-EEE73969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4AE2-9083-AB0A-7130-70CFCEDF7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Phase field simulation of Binary Alloy.</a:t>
            </a:r>
          </a:p>
          <a:p>
            <a:pPr>
              <a:lnSpc>
                <a:spcPct val="150000"/>
              </a:lnSpc>
            </a:pPr>
            <a:r>
              <a:rPr lang="en-IN" dirty="0"/>
              <a:t>To learn to use CALPHAD database in phase field modelling.</a:t>
            </a:r>
          </a:p>
          <a:p>
            <a:pPr>
              <a:lnSpc>
                <a:spcPct val="150000"/>
              </a:lnSpc>
            </a:pPr>
            <a:r>
              <a:rPr lang="en-IN" dirty="0"/>
              <a:t>Phase field simulation of Ternary alloy using CALPHAD database.</a:t>
            </a:r>
          </a:p>
          <a:p>
            <a:pPr>
              <a:lnSpc>
                <a:spcPct val="150000"/>
              </a:lnSpc>
            </a:pPr>
            <a:r>
              <a:rPr lang="en-IN" dirty="0"/>
              <a:t>Verification of results on MICRESS software. </a:t>
            </a:r>
          </a:p>
        </p:txBody>
      </p:sp>
    </p:spTree>
    <p:extLst>
      <p:ext uri="{BB962C8B-B14F-4D97-AF65-F5344CB8AC3E}">
        <p14:creationId xmlns:p14="http://schemas.microsoft.com/office/powerpoint/2010/main" val="727939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9D6D-9091-99FD-A9CA-B1560294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4BDB2-7A00-9E8C-F024-C7E19C442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Nele </a:t>
            </a:r>
            <a:r>
              <a:rPr lang="en-US" sz="2000" dirty="0" err="1"/>
              <a:t>Moelans</a:t>
            </a:r>
            <a:r>
              <a:rPr lang="en-US" sz="2000" dirty="0"/>
              <a:t> , Bart </a:t>
            </a:r>
            <a:r>
              <a:rPr lang="en-US" sz="2000" dirty="0" err="1"/>
              <a:t>Blanpain</a:t>
            </a:r>
            <a:r>
              <a:rPr lang="en-US" sz="2000" dirty="0"/>
              <a:t>, Patrick </a:t>
            </a:r>
            <a:r>
              <a:rPr lang="en-US" sz="2000" dirty="0" err="1"/>
              <a:t>Wollants</a:t>
            </a:r>
            <a:r>
              <a:rPr lang="en-US" sz="2000" dirty="0"/>
              <a:t> ,An introduction to phase-field modeling of microstructure evolution.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/>
              <a:t>P. Gerald , </a:t>
            </a:r>
            <a:r>
              <a:rPr lang="en-US" sz="2000" dirty="0"/>
              <a:t>Phase-field Modelling of Microstructure Evolution During Solidification Incorporating CALPHAD Description of Gibbs Energies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W. J. </a:t>
            </a:r>
            <a:r>
              <a:rPr lang="en-US" sz="2000" dirty="0" err="1"/>
              <a:t>Boettinger</a:t>
            </a:r>
            <a:r>
              <a:rPr lang="en-US" sz="2000" dirty="0"/>
              <a:t>, J. A. Warren, C. </a:t>
            </a:r>
            <a:r>
              <a:rPr lang="en-US" sz="2000" dirty="0" err="1"/>
              <a:t>Beckermann</a:t>
            </a:r>
            <a:r>
              <a:rPr lang="en-US" sz="2000" dirty="0"/>
              <a:t>, and A. Karma, “Phase-Field Simulation of Solidification,” </a:t>
            </a:r>
            <a:r>
              <a:rPr lang="en-US" sz="2000" dirty="0" err="1"/>
              <a:t>Annu</a:t>
            </a:r>
            <a:r>
              <a:rPr lang="en-US" sz="2000" dirty="0"/>
              <a:t>. Rev. Mater. Res., vol. 32, pp. 163–194, 2002. 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/>
              <a:t>Alexandre Furtado Ferreira ,Leonardo de Olivé Ferreira, Abner da Costa Assis, </a:t>
            </a:r>
            <a:r>
              <a:rPr lang="en-US" sz="2000" dirty="0"/>
              <a:t>Numerical simulation of the solidification of pure melt by a phase-field model using an adaptive computation domain.</a:t>
            </a:r>
            <a:endParaRPr lang="pt-BR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Kobayashi, R. (1992). Simulations of three dimensional dendrites. Pattern Formation in Complex Dissipative Systems, 121–128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 err="1"/>
              <a:t>Seong</a:t>
            </a:r>
            <a:r>
              <a:rPr lang="en-IN" sz="2000" dirty="0"/>
              <a:t> </a:t>
            </a:r>
            <a:r>
              <a:rPr lang="en-IN" sz="2000" dirty="0" err="1"/>
              <a:t>Gyoon</a:t>
            </a:r>
            <a:r>
              <a:rPr lang="en-IN" sz="2000" dirty="0"/>
              <a:t> Kim, </a:t>
            </a:r>
            <a:r>
              <a:rPr lang="en-US" sz="2000" dirty="0"/>
              <a:t>Large Melt Scale Simulation of by Phase-field Model Dendritic Growth in Pure Undercooled Melt.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7468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9D6D-9091-99FD-A9CA-B1560294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4BDB2-7A00-9E8C-F024-C7E19C442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000" dirty="0"/>
              <a:t>Abdullah Shah, Ali Haider, Said Karim Shah, Numerical Simulation of Two-Dimensional Dendritic Growth Using Phase-Field Model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sz="2000" dirty="0"/>
              <a:t>Ferreira, Alexandre &amp; da Silva, Alexandre &amp; De Castro, Jose. (2006). Simulation of the solidification of pure nickel via the phase-field method. </a:t>
            </a:r>
            <a:endParaRPr lang="pt-BR" sz="2000" dirty="0"/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Font typeface="+mj-lt"/>
              <a:buAutoNum type="arabicPeriod" startAt="7"/>
            </a:pPr>
            <a:endParaRPr lang="en-US" sz="2000" dirty="0"/>
          </a:p>
          <a:p>
            <a:pPr marL="514350" indent="-514350">
              <a:buFont typeface="+mj-lt"/>
              <a:buAutoNum type="arabicPeriod" startAt="7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32094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13199</TotalTime>
  <Words>1711</Words>
  <Application>Microsoft Office PowerPoint</Application>
  <PresentationFormat>Widescreen</PresentationFormat>
  <Paragraphs>279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Courier New</vt:lpstr>
      <vt:lpstr>GreekC_IV50</vt:lpstr>
      <vt:lpstr>Office Theme</vt:lpstr>
      <vt:lpstr>PowerPoint Presentation</vt:lpstr>
      <vt:lpstr>Introduction</vt:lpstr>
      <vt:lpstr>Phase Field Modelling</vt:lpstr>
      <vt:lpstr>Phase Field Modelling</vt:lpstr>
      <vt:lpstr>Phase Field Modelling</vt:lpstr>
      <vt:lpstr>Phase Field Modelling</vt:lpstr>
      <vt:lpstr>Phase Field Modelling</vt:lpstr>
      <vt:lpstr>Dendrite Formation</vt:lpstr>
      <vt:lpstr>Historical Background</vt:lpstr>
      <vt:lpstr>Historical Background</vt:lpstr>
      <vt:lpstr>Phase Field Modelling</vt:lpstr>
      <vt:lpstr>Phase Field Modelling</vt:lpstr>
      <vt:lpstr>Phase Field Variable (Φ)</vt:lpstr>
      <vt:lpstr>Methodology</vt:lpstr>
      <vt:lpstr>Literature Review</vt:lpstr>
      <vt:lpstr>Kobayashi Model (1993)</vt:lpstr>
      <vt:lpstr>Kobayashi Model (1993)</vt:lpstr>
      <vt:lpstr>Kim Model (1999)</vt:lpstr>
      <vt:lpstr>Kim Model (1999)</vt:lpstr>
      <vt:lpstr>Literature Review</vt:lpstr>
      <vt:lpstr>Research Gap</vt:lpstr>
      <vt:lpstr>Objectives</vt:lpstr>
      <vt:lpstr>Model Formulation</vt:lpstr>
      <vt:lpstr>Free energy functional</vt:lpstr>
      <vt:lpstr>Free energy functional</vt:lpstr>
      <vt:lpstr>Free energy functional</vt:lpstr>
      <vt:lpstr>Free energy functional</vt:lpstr>
      <vt:lpstr>Free energy functional</vt:lpstr>
      <vt:lpstr>Governing Equations</vt:lpstr>
      <vt:lpstr>Governing Equations</vt:lpstr>
      <vt:lpstr>Governing Equations</vt:lpstr>
      <vt:lpstr>Numerical Implementation</vt:lpstr>
      <vt:lpstr>Numerical Implantation</vt:lpstr>
      <vt:lpstr>Numerical Implantation</vt:lpstr>
      <vt:lpstr>Results</vt:lpstr>
      <vt:lpstr>Verification of Kobayashi Model(1993)</vt:lpstr>
      <vt:lpstr>Verification of Kobayashi Model(1993)</vt:lpstr>
      <vt:lpstr>Verification of Kobayashi Model(1993)</vt:lpstr>
      <vt:lpstr>Verification of Kobayashi Model(1993)</vt:lpstr>
      <vt:lpstr>Simulation Results</vt:lpstr>
      <vt:lpstr>Simulation Results</vt:lpstr>
      <vt:lpstr>Simulation Results</vt:lpstr>
      <vt:lpstr>Simulation Results</vt:lpstr>
      <vt:lpstr>Further Work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Field Modelling</dc:title>
  <dc:creator>varadsanas@gmail.com</dc:creator>
  <cp:lastModifiedBy>varadsanas@gmail.com</cp:lastModifiedBy>
  <cp:revision>7</cp:revision>
  <dcterms:created xsi:type="dcterms:W3CDTF">2023-01-16T05:11:53Z</dcterms:created>
  <dcterms:modified xsi:type="dcterms:W3CDTF">2023-03-08T15:20:36Z</dcterms:modified>
</cp:coreProperties>
</file>